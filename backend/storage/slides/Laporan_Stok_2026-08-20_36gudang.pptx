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3.jpg"/><Relationship Id="rId5" Type="http://schemas.openxmlformats.org/officeDocument/2006/relationships/image" Target="../media/image4.jpg"/><Relationship Id="rId6" Type="http://schemas.openxmlformats.org/officeDocument/2006/relationships/image" Target="../media/image5.jpg"/><Relationship Id="rId7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7.jpg"/><Relationship Id="rId4" Type="http://schemas.openxmlformats.org/officeDocument/2006/relationships/image" Target="../media/image8.jpg"/><Relationship Id="rId5" Type="http://schemas.openxmlformats.org/officeDocument/2006/relationships/image" Target="../media/image9.jpg"/><Relationship Id="rId6" Type="http://schemas.openxmlformats.org/officeDocument/2006/relationships/image" Target="../media/image10.jpg"/><Relationship Id="rId7" Type="http://schemas.openxmlformats.org/officeDocument/2006/relationships/image" Target="../media/image11.jpg"/><Relationship Id="rId8" Type="http://schemas.openxmlformats.org/officeDocument/2006/relationships/image" Target="../media/image12.jpg"/><Relationship Id="rId9" Type="http://schemas.openxmlformats.org/officeDocument/2006/relationships/image" Target="../media/image13.jpg"/><Relationship Id="rId10" Type="http://schemas.openxmlformats.org/officeDocument/2006/relationships/image" Target="../media/image14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5.jpg"/><Relationship Id="rId4" Type="http://schemas.openxmlformats.org/officeDocument/2006/relationships/image" Target="../media/image16.jpg"/><Relationship Id="rId5" Type="http://schemas.openxmlformats.org/officeDocument/2006/relationships/image" Target="../media/image17.jpg"/><Relationship Id="rId6" Type="http://schemas.openxmlformats.org/officeDocument/2006/relationships/image" Target="../media/image18.jpg"/><Relationship Id="rId7" Type="http://schemas.openxmlformats.org/officeDocument/2006/relationships/image" Target="../media/image19.jpg"/><Relationship Id="rId8" Type="http://schemas.openxmlformats.org/officeDocument/2006/relationships/image" Target="../media/image20.jpg"/><Relationship Id="rId9" Type="http://schemas.openxmlformats.org/officeDocument/2006/relationships/image" Target="../media/image21.jpg"/><Relationship Id="rId10" Type="http://schemas.openxmlformats.org/officeDocument/2006/relationships/image" Target="../media/image22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3.jpg"/><Relationship Id="rId4" Type="http://schemas.openxmlformats.org/officeDocument/2006/relationships/image" Target="../media/image24.jpg"/><Relationship Id="rId5" Type="http://schemas.openxmlformats.org/officeDocument/2006/relationships/image" Target="../media/image25.jpg"/><Relationship Id="rId6" Type="http://schemas.openxmlformats.org/officeDocument/2006/relationships/image" Target="../media/image26.jpg"/><Relationship Id="rId7" Type="http://schemas.openxmlformats.org/officeDocument/2006/relationships/image" Target="../media/image27.jpg"/><Relationship Id="rId8" Type="http://schemas.openxmlformats.org/officeDocument/2006/relationships/image" Target="../media/image28.jpg"/><Relationship Id="rId9" Type="http://schemas.openxmlformats.org/officeDocument/2006/relationships/image" Target="../media/image29.jpg"/><Relationship Id="rId10" Type="http://schemas.openxmlformats.org/officeDocument/2006/relationships/image" Target="../media/image30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1.jpg"/><Relationship Id="rId4" Type="http://schemas.openxmlformats.org/officeDocument/2006/relationships/image" Target="../media/image32.jpg"/><Relationship Id="rId5" Type="http://schemas.openxmlformats.org/officeDocument/2006/relationships/image" Target="../media/image33.jpg"/><Relationship Id="rId6" Type="http://schemas.openxmlformats.org/officeDocument/2006/relationships/image" Target="../media/image34.jpg"/><Relationship Id="rId7" Type="http://schemas.openxmlformats.org/officeDocument/2006/relationships/image" Target="../media/image35.jpg"/><Relationship Id="rId8" Type="http://schemas.openxmlformats.org/officeDocument/2006/relationships/image" Target="../media/image36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274320" y="914400"/>
            <a:ext cx="5684367" cy="27203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84048" y="1024128"/>
            <a:ext cx="5464911" cy="274320"/>
          </a:xfrm>
          <a:prstGeom prst="rect">
            <a:avLst/>
          </a:prstGeom>
          <a:solidFill>
            <a:srgbClr val="001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18288"/>
          <a:lstStyle/>
          <a:p>
            <a:pPr algn="l"/>
            <a:r>
              <a:rPr sz="800" b="1">
                <a:solidFill>
                  <a:srgbClr val="FFFFFF"/>
                </a:solidFill>
                <a:latin typeface="Calibri"/>
              </a:rPr>
              <a:t>LEBAK 3 - MALIMPING  (B301)  —  BANTEN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84048" y="1353312"/>
          <a:ext cx="5464909" cy="4023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11578"/>
                <a:gridCol w="1001900"/>
                <a:gridCol w="1001900"/>
                <a:gridCol w="1001900"/>
                <a:gridCol w="1147631"/>
              </a:tblGrid>
              <a:tr h="201168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001F3F"/>
                          </a:solidFill>
                          <a:latin typeface="Calibri"/>
                        </a:rPr>
                        <a:t>Jenis</a:t>
                      </a:r>
                    </a:p>
                  </a:txBody>
                  <a:tcPr anchor="ctr">
                    <a:solidFill>
                      <a:srgbClr val="40E0D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001F3F"/>
                          </a:solidFill>
                          <a:latin typeface="Calibri"/>
                        </a:rPr>
                        <a:t>Stok Fisik</a:t>
                      </a:r>
                    </a:p>
                  </a:txBody>
                  <a:tcPr anchor="ctr">
                    <a:solidFill>
                      <a:srgbClr val="40E0D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001F3F"/>
                          </a:solidFill>
                          <a:latin typeface="Calibri"/>
                        </a:rPr>
                        <a:t>Out. SO</a:t>
                      </a:r>
                    </a:p>
                  </a:txBody>
                  <a:tcPr anchor="ctr">
                    <a:solidFill>
                      <a:srgbClr val="40E0D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001F3F"/>
                          </a:solidFill>
                          <a:latin typeface="Calibri"/>
                        </a:rPr>
                        <a:t>Intransit</a:t>
                      </a:r>
                    </a:p>
                  </a:txBody>
                  <a:tcPr anchor="ctr">
                    <a:solidFill>
                      <a:srgbClr val="40E0D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001F3F"/>
                          </a:solidFill>
                          <a:latin typeface="Calibri"/>
                        </a:rPr>
                        <a:t>Stok Admin</a:t>
                      </a:r>
                    </a:p>
                  </a:txBody>
                  <a:tcPr anchor="ctr">
                    <a:solidFill>
                      <a:srgbClr val="40E0D0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NPK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1,196.80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46.00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0.00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07BFF"/>
                          </a:solidFill>
                          <a:latin typeface="Calibri"/>
                        </a:rPr>
                        <a:t>1,150.80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384048" y="1828800"/>
            <a:ext cx="2695879" cy="1696212"/>
          </a:xfrm>
          <a:prstGeom prst="rect">
            <a:avLst/>
          </a:prstGeom>
          <a:solidFill>
            <a:srgbClr val="E8E8E8"/>
          </a:solidFill>
          <a:ln w="63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i="1">
                <a:solidFill>
                  <a:srgbClr val="999999"/>
                </a:solidFill>
                <a:latin typeface="Calibri"/>
              </a:rPr>
              <a:t>CCTV Depan
(Tidak tersedia)</a:t>
            </a:r>
          </a:p>
        </p:txBody>
      </p:sp>
      <p:sp>
        <p:nvSpPr>
          <p:cNvPr id="7" name="Rectangle 6"/>
          <p:cNvSpPr/>
          <p:nvPr/>
        </p:nvSpPr>
        <p:spPr>
          <a:xfrm>
            <a:off x="3153079" y="1828800"/>
            <a:ext cx="2695879" cy="1696212"/>
          </a:xfrm>
          <a:prstGeom prst="rect">
            <a:avLst/>
          </a:prstGeom>
          <a:solidFill>
            <a:srgbClr val="E8E8E8"/>
          </a:solidFill>
          <a:ln w="63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i="1">
                <a:solidFill>
                  <a:srgbClr val="999999"/>
                </a:solidFill>
                <a:latin typeface="Calibri"/>
              </a:rPr>
              <a:t>CCTV Dalam
(Tidak tersedia)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33007" y="914400"/>
            <a:ext cx="5684367" cy="27203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342735" y="1024128"/>
            <a:ext cx="5464911" cy="274320"/>
          </a:xfrm>
          <a:prstGeom prst="rect">
            <a:avLst/>
          </a:prstGeom>
          <a:solidFill>
            <a:srgbClr val="001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18288"/>
          <a:lstStyle/>
          <a:p>
            <a:pPr algn="l"/>
            <a:r>
              <a:rPr sz="800" b="1">
                <a:solidFill>
                  <a:srgbClr val="FFFFFF"/>
                </a:solidFill>
                <a:latin typeface="Calibri"/>
              </a:rPr>
              <a:t>LEBAK 5  (B3GU)  —  BANTEN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342735" y="1353312"/>
          <a:ext cx="5464909" cy="4023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11578"/>
                <a:gridCol w="1001900"/>
                <a:gridCol w="1001900"/>
                <a:gridCol w="1001900"/>
                <a:gridCol w="1147631"/>
              </a:tblGrid>
              <a:tr h="201168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001F3F"/>
                          </a:solidFill>
                          <a:latin typeface="Calibri"/>
                        </a:rPr>
                        <a:t>Jenis</a:t>
                      </a:r>
                    </a:p>
                  </a:txBody>
                  <a:tcPr anchor="ctr">
                    <a:solidFill>
                      <a:srgbClr val="40E0D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001F3F"/>
                          </a:solidFill>
                          <a:latin typeface="Calibri"/>
                        </a:rPr>
                        <a:t>Stok Fisik</a:t>
                      </a:r>
                    </a:p>
                  </a:txBody>
                  <a:tcPr anchor="ctr">
                    <a:solidFill>
                      <a:srgbClr val="40E0D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001F3F"/>
                          </a:solidFill>
                          <a:latin typeface="Calibri"/>
                        </a:rPr>
                        <a:t>Out. SO</a:t>
                      </a:r>
                    </a:p>
                  </a:txBody>
                  <a:tcPr anchor="ctr">
                    <a:solidFill>
                      <a:srgbClr val="40E0D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001F3F"/>
                          </a:solidFill>
                          <a:latin typeface="Calibri"/>
                        </a:rPr>
                        <a:t>Intransit</a:t>
                      </a:r>
                    </a:p>
                  </a:txBody>
                  <a:tcPr anchor="ctr">
                    <a:solidFill>
                      <a:srgbClr val="40E0D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001F3F"/>
                          </a:solidFill>
                          <a:latin typeface="Calibri"/>
                        </a:rPr>
                        <a:t>Stok Admin</a:t>
                      </a:r>
                    </a:p>
                  </a:txBody>
                  <a:tcPr anchor="ctr">
                    <a:solidFill>
                      <a:srgbClr val="40E0D0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NPK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1,068.25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0.00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0.00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07BFF"/>
                          </a:solidFill>
                          <a:latin typeface="Calibri"/>
                        </a:rPr>
                        <a:t>1,068.25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6342735" y="1828800"/>
            <a:ext cx="2695879" cy="1696212"/>
          </a:xfrm>
          <a:prstGeom prst="rect">
            <a:avLst/>
          </a:prstGeom>
          <a:solidFill>
            <a:srgbClr val="E8E8E8"/>
          </a:solidFill>
          <a:ln w="63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i="1">
                <a:solidFill>
                  <a:srgbClr val="999999"/>
                </a:solidFill>
                <a:latin typeface="Calibri"/>
              </a:rPr>
              <a:t>CCTV Depan
(Tidak tersedia)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11767" y="1828800"/>
            <a:ext cx="2695879" cy="1696212"/>
          </a:xfrm>
          <a:prstGeom prst="rect">
            <a:avLst/>
          </a:prstGeom>
          <a:solidFill>
            <a:srgbClr val="E8E8E8"/>
          </a:solidFill>
          <a:ln w="63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i="1">
                <a:solidFill>
                  <a:srgbClr val="999999"/>
                </a:solidFill>
                <a:latin typeface="Calibri"/>
              </a:rPr>
              <a:t>CCTV Dalam
(Tidak tersedia)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274320" y="914400"/>
            <a:ext cx="5684367" cy="27203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84048" y="1024128"/>
            <a:ext cx="5464911" cy="274320"/>
          </a:xfrm>
          <a:prstGeom prst="rect">
            <a:avLst/>
          </a:prstGeom>
          <a:solidFill>
            <a:srgbClr val="001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18288"/>
          <a:lstStyle/>
          <a:p>
            <a:pPr algn="l"/>
            <a:r>
              <a:rPr sz="800" b="1">
                <a:solidFill>
                  <a:srgbClr val="FFFFFF"/>
                </a:solidFill>
                <a:latin typeface="Calibri"/>
              </a:rPr>
              <a:t>TSM CIBEUREUM  (B325/C3AL)  —  JAWA BARAT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84048" y="1353312"/>
          <a:ext cx="5464909" cy="4023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11578"/>
                <a:gridCol w="1001900"/>
                <a:gridCol w="1001900"/>
                <a:gridCol w="1001900"/>
                <a:gridCol w="1147631"/>
              </a:tblGrid>
              <a:tr h="201168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001F3F"/>
                          </a:solidFill>
                          <a:latin typeface="Calibri"/>
                        </a:rPr>
                        <a:t>Jenis</a:t>
                      </a:r>
                    </a:p>
                  </a:txBody>
                  <a:tcPr anchor="ctr">
                    <a:solidFill>
                      <a:srgbClr val="40E0D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001F3F"/>
                          </a:solidFill>
                          <a:latin typeface="Calibri"/>
                        </a:rPr>
                        <a:t>Stok Fisik</a:t>
                      </a:r>
                    </a:p>
                  </a:txBody>
                  <a:tcPr anchor="ctr">
                    <a:solidFill>
                      <a:srgbClr val="40E0D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001F3F"/>
                          </a:solidFill>
                          <a:latin typeface="Calibri"/>
                        </a:rPr>
                        <a:t>Out. SO</a:t>
                      </a:r>
                    </a:p>
                  </a:txBody>
                  <a:tcPr anchor="ctr">
                    <a:solidFill>
                      <a:srgbClr val="40E0D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001F3F"/>
                          </a:solidFill>
                          <a:latin typeface="Calibri"/>
                        </a:rPr>
                        <a:t>Intransit</a:t>
                      </a:r>
                    </a:p>
                  </a:txBody>
                  <a:tcPr anchor="ctr">
                    <a:solidFill>
                      <a:srgbClr val="40E0D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001F3F"/>
                          </a:solidFill>
                          <a:latin typeface="Calibri"/>
                        </a:rPr>
                        <a:t>Stok Admin</a:t>
                      </a:r>
                    </a:p>
                  </a:txBody>
                  <a:tcPr anchor="ctr">
                    <a:solidFill>
                      <a:srgbClr val="40E0D0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NPK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2,173.95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60.00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63.00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07BFF"/>
                          </a:solidFill>
                          <a:latin typeface="Calibri"/>
                        </a:rPr>
                        <a:t>2,176.95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384048" y="1828800"/>
            <a:ext cx="2695879" cy="1696212"/>
          </a:xfrm>
          <a:prstGeom prst="rect">
            <a:avLst/>
          </a:prstGeom>
          <a:solidFill>
            <a:srgbClr val="E8E8E8"/>
          </a:solidFill>
          <a:ln w="63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i="1">
                <a:solidFill>
                  <a:srgbClr val="999999"/>
                </a:solidFill>
                <a:latin typeface="Calibri"/>
              </a:rPr>
              <a:t>CCTV Depan
(Tidak tersedia)</a:t>
            </a:r>
          </a:p>
        </p:txBody>
      </p:sp>
      <p:sp>
        <p:nvSpPr>
          <p:cNvPr id="7" name="Rectangle 6"/>
          <p:cNvSpPr/>
          <p:nvPr/>
        </p:nvSpPr>
        <p:spPr>
          <a:xfrm>
            <a:off x="3153079" y="1828800"/>
            <a:ext cx="2695879" cy="1696212"/>
          </a:xfrm>
          <a:prstGeom prst="rect">
            <a:avLst/>
          </a:prstGeom>
          <a:solidFill>
            <a:srgbClr val="E8E8E8"/>
          </a:solidFill>
          <a:ln w="63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i="1">
                <a:solidFill>
                  <a:srgbClr val="999999"/>
                </a:solidFill>
                <a:latin typeface="Calibri"/>
              </a:rPr>
              <a:t>CCTV Dalam
(Tidak tersedia)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33007" y="914400"/>
            <a:ext cx="5684367" cy="27203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342735" y="1024128"/>
            <a:ext cx="5464911" cy="274320"/>
          </a:xfrm>
          <a:prstGeom prst="rect">
            <a:avLst/>
          </a:prstGeom>
          <a:solidFill>
            <a:srgbClr val="001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18288"/>
          <a:lstStyle/>
          <a:p>
            <a:pPr algn="l"/>
            <a:r>
              <a:rPr sz="800" b="1">
                <a:solidFill>
                  <a:srgbClr val="FFFFFF"/>
                </a:solidFill>
                <a:latin typeface="Calibri"/>
              </a:rPr>
              <a:t>TSM 2CIPATUJAH  (C363)  —  JAWA BARAT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342735" y="1353312"/>
          <a:ext cx="5464909" cy="4023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11578"/>
                <a:gridCol w="1001900"/>
                <a:gridCol w="1001900"/>
                <a:gridCol w="1001900"/>
                <a:gridCol w="1147631"/>
              </a:tblGrid>
              <a:tr h="201168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001F3F"/>
                          </a:solidFill>
                          <a:latin typeface="Calibri"/>
                        </a:rPr>
                        <a:t>Jenis</a:t>
                      </a:r>
                    </a:p>
                  </a:txBody>
                  <a:tcPr anchor="ctr">
                    <a:solidFill>
                      <a:srgbClr val="40E0D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001F3F"/>
                          </a:solidFill>
                          <a:latin typeface="Calibri"/>
                        </a:rPr>
                        <a:t>Stok Fisik</a:t>
                      </a:r>
                    </a:p>
                  </a:txBody>
                  <a:tcPr anchor="ctr">
                    <a:solidFill>
                      <a:srgbClr val="40E0D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001F3F"/>
                          </a:solidFill>
                          <a:latin typeface="Calibri"/>
                        </a:rPr>
                        <a:t>Out. SO</a:t>
                      </a:r>
                    </a:p>
                  </a:txBody>
                  <a:tcPr anchor="ctr">
                    <a:solidFill>
                      <a:srgbClr val="40E0D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001F3F"/>
                          </a:solidFill>
                          <a:latin typeface="Calibri"/>
                        </a:rPr>
                        <a:t>Intransit</a:t>
                      </a:r>
                    </a:p>
                  </a:txBody>
                  <a:tcPr anchor="ctr">
                    <a:solidFill>
                      <a:srgbClr val="40E0D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001F3F"/>
                          </a:solidFill>
                          <a:latin typeface="Calibri"/>
                        </a:rPr>
                        <a:t>Stok Admin</a:t>
                      </a:r>
                    </a:p>
                  </a:txBody>
                  <a:tcPr anchor="ctr">
                    <a:solidFill>
                      <a:srgbClr val="40E0D0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Urea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977.40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0.00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0.00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07BFF"/>
                          </a:solidFill>
                          <a:latin typeface="Calibri"/>
                        </a:rPr>
                        <a:t>977.40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6342735" y="1828800"/>
            <a:ext cx="2695879" cy="1696212"/>
          </a:xfrm>
          <a:prstGeom prst="rect">
            <a:avLst/>
          </a:prstGeom>
          <a:solidFill>
            <a:srgbClr val="E8E8E8"/>
          </a:solidFill>
          <a:ln w="63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i="1">
                <a:solidFill>
                  <a:srgbClr val="999999"/>
                </a:solidFill>
                <a:latin typeface="Calibri"/>
              </a:rPr>
              <a:t>CCTV Depan
(Tidak tersedia)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11767" y="1828800"/>
            <a:ext cx="2695879" cy="1696212"/>
          </a:xfrm>
          <a:prstGeom prst="rect">
            <a:avLst/>
          </a:prstGeom>
          <a:solidFill>
            <a:srgbClr val="E8E8E8"/>
          </a:solidFill>
          <a:ln w="63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i="1">
                <a:solidFill>
                  <a:srgbClr val="999999"/>
                </a:solidFill>
                <a:latin typeface="Calibri"/>
              </a:rPr>
              <a:t>CCTV Dalam
(Tidak tersedia)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4320" y="3863339"/>
            <a:ext cx="5684367" cy="27203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84048" y="3973068"/>
            <a:ext cx="5464911" cy="274320"/>
          </a:xfrm>
          <a:prstGeom prst="rect">
            <a:avLst/>
          </a:prstGeom>
          <a:solidFill>
            <a:srgbClr val="001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18288"/>
          <a:lstStyle/>
          <a:p>
            <a:pPr algn="l"/>
            <a:r>
              <a:rPr sz="800" b="1">
                <a:solidFill>
                  <a:srgbClr val="FFFFFF"/>
                </a:solidFill>
                <a:latin typeface="Calibri"/>
              </a:rPr>
              <a:t>TSM 1AWIPARI  (B3HB/C324)  —  JAWA BARAT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384048" y="4302252"/>
          <a:ext cx="5464909" cy="4023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11578"/>
                <a:gridCol w="1001900"/>
                <a:gridCol w="1001900"/>
                <a:gridCol w="1001900"/>
                <a:gridCol w="1147631"/>
              </a:tblGrid>
              <a:tr h="201168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001F3F"/>
                          </a:solidFill>
                          <a:latin typeface="Calibri"/>
                        </a:rPr>
                        <a:t>Jenis</a:t>
                      </a:r>
                    </a:p>
                  </a:txBody>
                  <a:tcPr anchor="ctr">
                    <a:solidFill>
                      <a:srgbClr val="40E0D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001F3F"/>
                          </a:solidFill>
                          <a:latin typeface="Calibri"/>
                        </a:rPr>
                        <a:t>Stok Fisik</a:t>
                      </a:r>
                    </a:p>
                  </a:txBody>
                  <a:tcPr anchor="ctr">
                    <a:solidFill>
                      <a:srgbClr val="40E0D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001F3F"/>
                          </a:solidFill>
                          <a:latin typeface="Calibri"/>
                        </a:rPr>
                        <a:t>Out. SO</a:t>
                      </a:r>
                    </a:p>
                  </a:txBody>
                  <a:tcPr anchor="ctr">
                    <a:solidFill>
                      <a:srgbClr val="40E0D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001F3F"/>
                          </a:solidFill>
                          <a:latin typeface="Calibri"/>
                        </a:rPr>
                        <a:t>Intransit</a:t>
                      </a:r>
                    </a:p>
                  </a:txBody>
                  <a:tcPr anchor="ctr">
                    <a:solidFill>
                      <a:srgbClr val="40E0D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001F3F"/>
                          </a:solidFill>
                          <a:latin typeface="Calibri"/>
                        </a:rPr>
                        <a:t>Stok Admin</a:t>
                      </a:r>
                    </a:p>
                  </a:txBody>
                  <a:tcPr anchor="ctr">
                    <a:solidFill>
                      <a:srgbClr val="40E0D0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Urea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2,206.15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35.00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212.80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07BFF"/>
                          </a:solidFill>
                          <a:latin typeface="Calibri"/>
                        </a:rPr>
                        <a:t>2,383.95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6" name="Rectangle 15"/>
          <p:cNvSpPr/>
          <p:nvPr/>
        </p:nvSpPr>
        <p:spPr>
          <a:xfrm>
            <a:off x="384048" y="4777740"/>
            <a:ext cx="2695879" cy="1696211"/>
          </a:xfrm>
          <a:prstGeom prst="rect">
            <a:avLst/>
          </a:prstGeom>
          <a:solidFill>
            <a:srgbClr val="E8E8E8"/>
          </a:solidFill>
          <a:ln w="63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i="1">
                <a:solidFill>
                  <a:srgbClr val="999999"/>
                </a:solidFill>
                <a:latin typeface="Calibri"/>
              </a:rPr>
              <a:t>CCTV Depan
(Tidak tersedia)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153079" y="4777740"/>
            <a:ext cx="2695879" cy="1696211"/>
          </a:xfrm>
          <a:prstGeom prst="rect">
            <a:avLst/>
          </a:prstGeom>
          <a:solidFill>
            <a:srgbClr val="E8E8E8"/>
          </a:solidFill>
          <a:ln w="63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i="1">
                <a:solidFill>
                  <a:srgbClr val="999999"/>
                </a:solidFill>
                <a:latin typeface="Calibri"/>
              </a:rPr>
              <a:t>CCTV Dalam
(Tidak tersedia)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33007" y="3863339"/>
            <a:ext cx="5684367" cy="27203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42735" y="3973068"/>
            <a:ext cx="5464911" cy="274320"/>
          </a:xfrm>
          <a:prstGeom prst="rect">
            <a:avLst/>
          </a:prstGeom>
          <a:solidFill>
            <a:srgbClr val="001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18288"/>
          <a:lstStyle/>
          <a:p>
            <a:pPr algn="l"/>
            <a:r>
              <a:rPr sz="800" b="1">
                <a:solidFill>
                  <a:srgbClr val="FFFFFF"/>
                </a:solidFill>
                <a:latin typeface="Calibri"/>
              </a:rPr>
              <a:t>TASIKMALAYA 4  (B3GT)  —  JAWA BARAT</a:t>
            </a:r>
          </a:p>
        </p:txBody>
      </p:sp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6342735" y="4302252"/>
          <a:ext cx="5464909" cy="4023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11578"/>
                <a:gridCol w="1001900"/>
                <a:gridCol w="1001900"/>
                <a:gridCol w="1001900"/>
                <a:gridCol w="1147631"/>
              </a:tblGrid>
              <a:tr h="201168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001F3F"/>
                          </a:solidFill>
                          <a:latin typeface="Calibri"/>
                        </a:rPr>
                        <a:t>Jenis</a:t>
                      </a:r>
                    </a:p>
                  </a:txBody>
                  <a:tcPr anchor="ctr">
                    <a:solidFill>
                      <a:srgbClr val="40E0D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001F3F"/>
                          </a:solidFill>
                          <a:latin typeface="Calibri"/>
                        </a:rPr>
                        <a:t>Stok Fisik</a:t>
                      </a:r>
                    </a:p>
                  </a:txBody>
                  <a:tcPr anchor="ctr">
                    <a:solidFill>
                      <a:srgbClr val="40E0D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001F3F"/>
                          </a:solidFill>
                          <a:latin typeface="Calibri"/>
                        </a:rPr>
                        <a:t>Out. SO</a:t>
                      </a:r>
                    </a:p>
                  </a:txBody>
                  <a:tcPr anchor="ctr">
                    <a:solidFill>
                      <a:srgbClr val="40E0D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001F3F"/>
                          </a:solidFill>
                          <a:latin typeface="Calibri"/>
                        </a:rPr>
                        <a:t>Intransit</a:t>
                      </a:r>
                    </a:p>
                  </a:txBody>
                  <a:tcPr anchor="ctr">
                    <a:solidFill>
                      <a:srgbClr val="40E0D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001F3F"/>
                          </a:solidFill>
                          <a:latin typeface="Calibri"/>
                        </a:rPr>
                        <a:t>Stok Admin</a:t>
                      </a:r>
                    </a:p>
                  </a:txBody>
                  <a:tcPr anchor="ctr">
                    <a:solidFill>
                      <a:srgbClr val="40E0D0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NPK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912.50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0.00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0.00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07BFF"/>
                          </a:solidFill>
                          <a:latin typeface="Calibri"/>
                        </a:rPr>
                        <a:t>912.50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1" name="Rectangle 20"/>
          <p:cNvSpPr/>
          <p:nvPr/>
        </p:nvSpPr>
        <p:spPr>
          <a:xfrm>
            <a:off x="6342735" y="4777740"/>
            <a:ext cx="2695879" cy="1696211"/>
          </a:xfrm>
          <a:prstGeom prst="rect">
            <a:avLst/>
          </a:prstGeom>
          <a:solidFill>
            <a:srgbClr val="E8E8E8"/>
          </a:solidFill>
          <a:ln w="63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i="1">
                <a:solidFill>
                  <a:srgbClr val="999999"/>
                </a:solidFill>
                <a:latin typeface="Calibri"/>
              </a:rPr>
              <a:t>CCTV Depan
(Tidak tersedia)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111767" y="4777740"/>
            <a:ext cx="2695879" cy="1696211"/>
          </a:xfrm>
          <a:prstGeom prst="rect">
            <a:avLst/>
          </a:prstGeom>
          <a:solidFill>
            <a:srgbClr val="E8E8E8"/>
          </a:solidFill>
          <a:ln w="63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i="1">
                <a:solidFill>
                  <a:srgbClr val="999999"/>
                </a:solidFill>
                <a:latin typeface="Calibri"/>
              </a:rPr>
              <a:t>CCTV Dalam
(Tidak tersedia)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274320" y="914400"/>
            <a:ext cx="5684367" cy="27203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84048" y="1024128"/>
            <a:ext cx="5464911" cy="274320"/>
          </a:xfrm>
          <a:prstGeom prst="rect">
            <a:avLst/>
          </a:prstGeom>
          <a:solidFill>
            <a:srgbClr val="001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18288"/>
          <a:lstStyle/>
          <a:p>
            <a:pPr algn="l"/>
            <a:r>
              <a:rPr sz="800" b="1">
                <a:solidFill>
                  <a:srgbClr val="FFFFFF"/>
                </a:solidFill>
                <a:latin typeface="Calibri"/>
              </a:rPr>
              <a:t>GUNUNG KIDUL PKG  (B3AR)  —  DI YOGYAKARTA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84048" y="1353312"/>
          <a:ext cx="5464909" cy="4023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11578"/>
                <a:gridCol w="1001900"/>
                <a:gridCol w="1001900"/>
                <a:gridCol w="1001900"/>
                <a:gridCol w="1147631"/>
              </a:tblGrid>
              <a:tr h="201168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001F3F"/>
                          </a:solidFill>
                          <a:latin typeface="Calibri"/>
                        </a:rPr>
                        <a:t>Jenis</a:t>
                      </a:r>
                    </a:p>
                  </a:txBody>
                  <a:tcPr anchor="ctr">
                    <a:solidFill>
                      <a:srgbClr val="40E0D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001F3F"/>
                          </a:solidFill>
                          <a:latin typeface="Calibri"/>
                        </a:rPr>
                        <a:t>Stok Fisik</a:t>
                      </a:r>
                    </a:p>
                  </a:txBody>
                  <a:tcPr anchor="ctr">
                    <a:solidFill>
                      <a:srgbClr val="40E0D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001F3F"/>
                          </a:solidFill>
                          <a:latin typeface="Calibri"/>
                        </a:rPr>
                        <a:t>Out. SO</a:t>
                      </a:r>
                    </a:p>
                  </a:txBody>
                  <a:tcPr anchor="ctr">
                    <a:solidFill>
                      <a:srgbClr val="40E0D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001F3F"/>
                          </a:solidFill>
                          <a:latin typeface="Calibri"/>
                        </a:rPr>
                        <a:t>Intransit</a:t>
                      </a:r>
                    </a:p>
                  </a:txBody>
                  <a:tcPr anchor="ctr">
                    <a:solidFill>
                      <a:srgbClr val="40E0D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001F3F"/>
                          </a:solidFill>
                          <a:latin typeface="Calibri"/>
                        </a:rPr>
                        <a:t>Stok Admin</a:t>
                      </a:r>
                    </a:p>
                  </a:txBody>
                  <a:tcPr anchor="ctr">
                    <a:solidFill>
                      <a:srgbClr val="40E0D0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NPK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364.35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116.00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183.20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07BFF"/>
                          </a:solidFill>
                          <a:latin typeface="Calibri"/>
                        </a:rPr>
                        <a:t>431.55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384048" y="1828800"/>
            <a:ext cx="2695879" cy="1696212"/>
          </a:xfrm>
          <a:prstGeom prst="rect">
            <a:avLst/>
          </a:prstGeom>
          <a:solidFill>
            <a:srgbClr val="E8E8E8"/>
          </a:solidFill>
          <a:ln w="63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i="1">
                <a:solidFill>
                  <a:srgbClr val="999999"/>
                </a:solidFill>
                <a:latin typeface="Calibri"/>
              </a:rPr>
              <a:t>CCTV Depan
(Tidak tersedia)</a:t>
            </a:r>
          </a:p>
        </p:txBody>
      </p:sp>
      <p:sp>
        <p:nvSpPr>
          <p:cNvPr id="7" name="Rectangle 6"/>
          <p:cNvSpPr/>
          <p:nvPr/>
        </p:nvSpPr>
        <p:spPr>
          <a:xfrm>
            <a:off x="3153079" y="1828800"/>
            <a:ext cx="2695879" cy="1696212"/>
          </a:xfrm>
          <a:prstGeom prst="rect">
            <a:avLst/>
          </a:prstGeom>
          <a:solidFill>
            <a:srgbClr val="E8E8E8"/>
          </a:solidFill>
          <a:ln w="63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i="1">
                <a:solidFill>
                  <a:srgbClr val="999999"/>
                </a:solidFill>
                <a:latin typeface="Calibri"/>
              </a:rPr>
              <a:t>CCTV Dalam
(Tidak tersedia)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33007" y="914400"/>
            <a:ext cx="5684367" cy="27203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342735" y="1024128"/>
            <a:ext cx="5464911" cy="274320"/>
          </a:xfrm>
          <a:prstGeom prst="rect">
            <a:avLst/>
          </a:prstGeom>
          <a:solidFill>
            <a:srgbClr val="001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18288"/>
          <a:lstStyle/>
          <a:p>
            <a:pPr algn="l"/>
            <a:r>
              <a:rPr sz="800" b="1">
                <a:solidFill>
                  <a:srgbClr val="FFFFFF"/>
                </a:solidFill>
                <a:latin typeface="Calibri"/>
              </a:rPr>
              <a:t>GPP SLEMAN  (B3D4/F347)  —  DI YOGYAKARTA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342735" y="1353312"/>
          <a:ext cx="5464909" cy="603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11578"/>
                <a:gridCol w="1001900"/>
                <a:gridCol w="1001900"/>
                <a:gridCol w="1001900"/>
                <a:gridCol w="1147631"/>
              </a:tblGrid>
              <a:tr h="201168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001F3F"/>
                          </a:solidFill>
                          <a:latin typeface="Calibri"/>
                        </a:rPr>
                        <a:t>Jenis</a:t>
                      </a:r>
                    </a:p>
                  </a:txBody>
                  <a:tcPr anchor="ctr">
                    <a:solidFill>
                      <a:srgbClr val="40E0D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001F3F"/>
                          </a:solidFill>
                          <a:latin typeface="Calibri"/>
                        </a:rPr>
                        <a:t>Stok Fisik</a:t>
                      </a:r>
                    </a:p>
                  </a:txBody>
                  <a:tcPr anchor="ctr">
                    <a:solidFill>
                      <a:srgbClr val="40E0D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001F3F"/>
                          </a:solidFill>
                          <a:latin typeface="Calibri"/>
                        </a:rPr>
                        <a:t>Out. SO</a:t>
                      </a:r>
                    </a:p>
                  </a:txBody>
                  <a:tcPr anchor="ctr">
                    <a:solidFill>
                      <a:srgbClr val="40E0D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001F3F"/>
                          </a:solidFill>
                          <a:latin typeface="Calibri"/>
                        </a:rPr>
                        <a:t>Intransit</a:t>
                      </a:r>
                    </a:p>
                  </a:txBody>
                  <a:tcPr anchor="ctr">
                    <a:solidFill>
                      <a:srgbClr val="40E0D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001F3F"/>
                          </a:solidFill>
                          <a:latin typeface="Calibri"/>
                        </a:rPr>
                        <a:t>Stok Admin</a:t>
                      </a:r>
                    </a:p>
                  </a:txBody>
                  <a:tcPr anchor="ctr">
                    <a:solidFill>
                      <a:srgbClr val="40E0D0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NPK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389.00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49.00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0.00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07BFF"/>
                          </a:solidFill>
                          <a:latin typeface="Calibri"/>
                        </a:rPr>
                        <a:t>340.00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Urea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2,493.40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72.00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120.40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07BFF"/>
                          </a:solidFill>
                          <a:latin typeface="Calibri"/>
                        </a:rPr>
                        <a:t>2,541.80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6342735" y="2029967"/>
            <a:ext cx="2695879" cy="1495044"/>
          </a:xfrm>
          <a:prstGeom prst="rect">
            <a:avLst/>
          </a:prstGeom>
          <a:solidFill>
            <a:srgbClr val="E8E8E8"/>
          </a:solidFill>
          <a:ln w="63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i="1">
                <a:solidFill>
                  <a:srgbClr val="999999"/>
                </a:solidFill>
                <a:latin typeface="Calibri"/>
              </a:rPr>
              <a:t>CCTV Depan
(Tidak tersedia)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11767" y="2029967"/>
            <a:ext cx="2695879" cy="1495044"/>
          </a:xfrm>
          <a:prstGeom prst="rect">
            <a:avLst/>
          </a:prstGeom>
          <a:solidFill>
            <a:srgbClr val="E8E8E8"/>
          </a:solidFill>
          <a:ln w="63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i="1">
                <a:solidFill>
                  <a:srgbClr val="999999"/>
                </a:solidFill>
                <a:latin typeface="Calibri"/>
              </a:rPr>
              <a:t>CCTV Dalam
(Tidak tersedia)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4320" y="3863339"/>
            <a:ext cx="5684367" cy="27203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84048" y="3973068"/>
            <a:ext cx="5464911" cy="274320"/>
          </a:xfrm>
          <a:prstGeom prst="rect">
            <a:avLst/>
          </a:prstGeom>
          <a:solidFill>
            <a:srgbClr val="001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18288"/>
          <a:lstStyle/>
          <a:p>
            <a:pPr algn="l"/>
            <a:r>
              <a:rPr sz="800" b="1">
                <a:solidFill>
                  <a:srgbClr val="FFFFFF"/>
                </a:solidFill>
                <a:latin typeface="Calibri"/>
              </a:rPr>
              <a:t>BGR GUNUNG KIDUL  (F346)  —  DI YOGYAKARTA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384048" y="4302252"/>
          <a:ext cx="5464909" cy="4023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11578"/>
                <a:gridCol w="1001900"/>
                <a:gridCol w="1001900"/>
                <a:gridCol w="1001900"/>
                <a:gridCol w="1147631"/>
              </a:tblGrid>
              <a:tr h="201168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001F3F"/>
                          </a:solidFill>
                          <a:latin typeface="Calibri"/>
                        </a:rPr>
                        <a:t>Jenis</a:t>
                      </a:r>
                    </a:p>
                  </a:txBody>
                  <a:tcPr anchor="ctr">
                    <a:solidFill>
                      <a:srgbClr val="40E0D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001F3F"/>
                          </a:solidFill>
                          <a:latin typeface="Calibri"/>
                        </a:rPr>
                        <a:t>Stok Fisik</a:t>
                      </a:r>
                    </a:p>
                  </a:txBody>
                  <a:tcPr anchor="ctr">
                    <a:solidFill>
                      <a:srgbClr val="40E0D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001F3F"/>
                          </a:solidFill>
                          <a:latin typeface="Calibri"/>
                        </a:rPr>
                        <a:t>Out. SO</a:t>
                      </a:r>
                    </a:p>
                  </a:txBody>
                  <a:tcPr anchor="ctr">
                    <a:solidFill>
                      <a:srgbClr val="40E0D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001F3F"/>
                          </a:solidFill>
                          <a:latin typeface="Calibri"/>
                        </a:rPr>
                        <a:t>Intransit</a:t>
                      </a:r>
                    </a:p>
                  </a:txBody>
                  <a:tcPr anchor="ctr">
                    <a:solidFill>
                      <a:srgbClr val="40E0D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001F3F"/>
                          </a:solidFill>
                          <a:latin typeface="Calibri"/>
                        </a:rPr>
                        <a:t>Stok Admin</a:t>
                      </a:r>
                    </a:p>
                  </a:txBody>
                  <a:tcPr anchor="ctr">
                    <a:solidFill>
                      <a:srgbClr val="40E0D0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Urea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1,339.20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113.00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228.00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07BFF"/>
                          </a:solidFill>
                          <a:latin typeface="Calibri"/>
                        </a:rPr>
                        <a:t>1,454.20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6" name="Rectangle 15"/>
          <p:cNvSpPr/>
          <p:nvPr/>
        </p:nvSpPr>
        <p:spPr>
          <a:xfrm>
            <a:off x="384048" y="4777740"/>
            <a:ext cx="2695879" cy="1696211"/>
          </a:xfrm>
          <a:prstGeom prst="rect">
            <a:avLst/>
          </a:prstGeom>
          <a:solidFill>
            <a:srgbClr val="E8E8E8"/>
          </a:solidFill>
          <a:ln w="63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i="1">
                <a:solidFill>
                  <a:srgbClr val="999999"/>
                </a:solidFill>
                <a:latin typeface="Calibri"/>
              </a:rPr>
              <a:t>CCTV Depan
(Tidak tersedia)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153079" y="4777740"/>
            <a:ext cx="2695879" cy="1696211"/>
          </a:xfrm>
          <a:prstGeom prst="rect">
            <a:avLst/>
          </a:prstGeom>
          <a:solidFill>
            <a:srgbClr val="E8E8E8"/>
          </a:solidFill>
          <a:ln w="63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i="1">
                <a:solidFill>
                  <a:srgbClr val="999999"/>
                </a:solidFill>
                <a:latin typeface="Calibri"/>
              </a:rPr>
              <a:t>CCTV Dalam
(Tidak tersedia)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33007" y="3863339"/>
            <a:ext cx="5684367" cy="27203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42735" y="3973068"/>
            <a:ext cx="5464911" cy="274320"/>
          </a:xfrm>
          <a:prstGeom prst="rect">
            <a:avLst/>
          </a:prstGeom>
          <a:solidFill>
            <a:srgbClr val="001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18288"/>
          <a:lstStyle/>
          <a:p>
            <a:pPr algn="l"/>
            <a:r>
              <a:rPr sz="800" b="1">
                <a:solidFill>
                  <a:srgbClr val="FFFFFF"/>
                </a:solidFill>
                <a:latin typeface="Calibri"/>
              </a:rPr>
              <a:t>BANTUL 2  (B3F7)  —  DI YOGYAKARTA</a:t>
            </a:r>
          </a:p>
        </p:txBody>
      </p:sp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6342735" y="4302252"/>
          <a:ext cx="5464909" cy="4023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11578"/>
                <a:gridCol w="1001900"/>
                <a:gridCol w="1001900"/>
                <a:gridCol w="1001900"/>
                <a:gridCol w="1147631"/>
              </a:tblGrid>
              <a:tr h="201168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001F3F"/>
                          </a:solidFill>
                          <a:latin typeface="Calibri"/>
                        </a:rPr>
                        <a:t>Jenis</a:t>
                      </a:r>
                    </a:p>
                  </a:txBody>
                  <a:tcPr anchor="ctr">
                    <a:solidFill>
                      <a:srgbClr val="40E0D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001F3F"/>
                          </a:solidFill>
                          <a:latin typeface="Calibri"/>
                        </a:rPr>
                        <a:t>Stok Fisik</a:t>
                      </a:r>
                    </a:p>
                  </a:txBody>
                  <a:tcPr anchor="ctr">
                    <a:solidFill>
                      <a:srgbClr val="40E0D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001F3F"/>
                          </a:solidFill>
                          <a:latin typeface="Calibri"/>
                        </a:rPr>
                        <a:t>Out. SO</a:t>
                      </a:r>
                    </a:p>
                  </a:txBody>
                  <a:tcPr anchor="ctr">
                    <a:solidFill>
                      <a:srgbClr val="40E0D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001F3F"/>
                          </a:solidFill>
                          <a:latin typeface="Calibri"/>
                        </a:rPr>
                        <a:t>Intransit</a:t>
                      </a:r>
                    </a:p>
                  </a:txBody>
                  <a:tcPr anchor="ctr">
                    <a:solidFill>
                      <a:srgbClr val="40E0D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001F3F"/>
                          </a:solidFill>
                          <a:latin typeface="Calibri"/>
                        </a:rPr>
                        <a:t>Stok Admin</a:t>
                      </a:r>
                    </a:p>
                  </a:txBody>
                  <a:tcPr anchor="ctr">
                    <a:solidFill>
                      <a:srgbClr val="40E0D0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NPK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649.00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56.00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0.00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07BFF"/>
                          </a:solidFill>
                          <a:latin typeface="Calibri"/>
                        </a:rPr>
                        <a:t>593.00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1" name="Rectangle 20"/>
          <p:cNvSpPr/>
          <p:nvPr/>
        </p:nvSpPr>
        <p:spPr>
          <a:xfrm>
            <a:off x="6342735" y="4777740"/>
            <a:ext cx="2695879" cy="1696211"/>
          </a:xfrm>
          <a:prstGeom prst="rect">
            <a:avLst/>
          </a:prstGeom>
          <a:solidFill>
            <a:srgbClr val="E8E8E8"/>
          </a:solidFill>
          <a:ln w="63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i="1">
                <a:solidFill>
                  <a:srgbClr val="999999"/>
                </a:solidFill>
                <a:latin typeface="Calibri"/>
              </a:rPr>
              <a:t>CCTV Depan
(Tidak tersedia)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111767" y="4777740"/>
            <a:ext cx="2695879" cy="1696211"/>
          </a:xfrm>
          <a:prstGeom prst="rect">
            <a:avLst/>
          </a:prstGeom>
          <a:solidFill>
            <a:srgbClr val="E8E8E8"/>
          </a:solidFill>
          <a:ln w="63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i="1">
                <a:solidFill>
                  <a:srgbClr val="999999"/>
                </a:solidFill>
                <a:latin typeface="Calibri"/>
              </a:rPr>
              <a:t>CCTV Dalam
(Tidak tersedia)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274320" y="914400"/>
            <a:ext cx="5684367" cy="27203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84048" y="1024128"/>
            <a:ext cx="5464911" cy="274320"/>
          </a:xfrm>
          <a:prstGeom prst="rect">
            <a:avLst/>
          </a:prstGeom>
          <a:solidFill>
            <a:srgbClr val="001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18288"/>
          <a:lstStyle/>
          <a:p>
            <a:pPr algn="l"/>
            <a:r>
              <a:rPr sz="800" b="1">
                <a:solidFill>
                  <a:srgbClr val="FFFFFF"/>
                </a:solidFill>
                <a:latin typeface="Calibri"/>
              </a:rPr>
              <a:t>BANYUMAS 3 - WANGON  (B328)  —  JAWA TENGAH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84048" y="1353312"/>
          <a:ext cx="5464909" cy="4023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11578"/>
                <a:gridCol w="1001900"/>
                <a:gridCol w="1001900"/>
                <a:gridCol w="1001900"/>
                <a:gridCol w="1147631"/>
              </a:tblGrid>
              <a:tr h="201168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001F3F"/>
                          </a:solidFill>
                          <a:latin typeface="Calibri"/>
                        </a:rPr>
                        <a:t>Jenis</a:t>
                      </a:r>
                    </a:p>
                  </a:txBody>
                  <a:tcPr anchor="ctr">
                    <a:solidFill>
                      <a:srgbClr val="40E0D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001F3F"/>
                          </a:solidFill>
                          <a:latin typeface="Calibri"/>
                        </a:rPr>
                        <a:t>Stok Fisik</a:t>
                      </a:r>
                    </a:p>
                  </a:txBody>
                  <a:tcPr anchor="ctr">
                    <a:solidFill>
                      <a:srgbClr val="40E0D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001F3F"/>
                          </a:solidFill>
                          <a:latin typeface="Calibri"/>
                        </a:rPr>
                        <a:t>Out. SO</a:t>
                      </a:r>
                    </a:p>
                  </a:txBody>
                  <a:tcPr anchor="ctr">
                    <a:solidFill>
                      <a:srgbClr val="40E0D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001F3F"/>
                          </a:solidFill>
                          <a:latin typeface="Calibri"/>
                        </a:rPr>
                        <a:t>Intransit</a:t>
                      </a:r>
                    </a:p>
                  </a:txBody>
                  <a:tcPr anchor="ctr">
                    <a:solidFill>
                      <a:srgbClr val="40E0D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001F3F"/>
                          </a:solidFill>
                          <a:latin typeface="Calibri"/>
                        </a:rPr>
                        <a:t>Stok Admin</a:t>
                      </a:r>
                    </a:p>
                  </a:txBody>
                  <a:tcPr anchor="ctr">
                    <a:solidFill>
                      <a:srgbClr val="40E0D0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NPK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1,692.20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73.00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0.00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07BFF"/>
                          </a:solidFill>
                          <a:latin typeface="Calibri"/>
                        </a:rPr>
                        <a:t>1,619.20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384048" y="1828800"/>
            <a:ext cx="2695879" cy="1696212"/>
          </a:xfrm>
          <a:prstGeom prst="rect">
            <a:avLst/>
          </a:prstGeom>
          <a:solidFill>
            <a:srgbClr val="E8E8E8"/>
          </a:solidFill>
          <a:ln w="63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i="1">
                <a:solidFill>
                  <a:srgbClr val="999999"/>
                </a:solidFill>
                <a:latin typeface="Calibri"/>
              </a:rPr>
              <a:t>CCTV Depan
(Tidak tersedia)</a:t>
            </a:r>
          </a:p>
        </p:txBody>
      </p:sp>
      <p:sp>
        <p:nvSpPr>
          <p:cNvPr id="7" name="Rectangle 6"/>
          <p:cNvSpPr/>
          <p:nvPr/>
        </p:nvSpPr>
        <p:spPr>
          <a:xfrm>
            <a:off x="3153079" y="1828800"/>
            <a:ext cx="2695879" cy="1696212"/>
          </a:xfrm>
          <a:prstGeom prst="rect">
            <a:avLst/>
          </a:prstGeom>
          <a:solidFill>
            <a:srgbClr val="E8E8E8"/>
          </a:solidFill>
          <a:ln w="63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i="1">
                <a:solidFill>
                  <a:srgbClr val="999999"/>
                </a:solidFill>
                <a:latin typeface="Calibri"/>
              </a:rPr>
              <a:t>CCTV Dalam
(Tidak tersedia)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33007" y="914400"/>
            <a:ext cx="5684367" cy="27203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342735" y="1024128"/>
            <a:ext cx="5464911" cy="274320"/>
          </a:xfrm>
          <a:prstGeom prst="rect">
            <a:avLst/>
          </a:prstGeom>
          <a:solidFill>
            <a:srgbClr val="001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18288"/>
          <a:lstStyle/>
          <a:p>
            <a:pPr algn="l"/>
            <a:r>
              <a:rPr sz="800" b="1">
                <a:solidFill>
                  <a:srgbClr val="FFFFFF"/>
                </a:solidFill>
                <a:latin typeface="Calibri"/>
              </a:rPr>
              <a:t>BANYUMAS WANGON 2  (F3CJ)  —  JAWA TENGAH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342735" y="1353312"/>
          <a:ext cx="5464909" cy="4023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11578"/>
                <a:gridCol w="1001900"/>
                <a:gridCol w="1001900"/>
                <a:gridCol w="1001900"/>
                <a:gridCol w="1147631"/>
              </a:tblGrid>
              <a:tr h="201168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001F3F"/>
                          </a:solidFill>
                          <a:latin typeface="Calibri"/>
                        </a:rPr>
                        <a:t>Jenis</a:t>
                      </a:r>
                    </a:p>
                  </a:txBody>
                  <a:tcPr anchor="ctr">
                    <a:solidFill>
                      <a:srgbClr val="40E0D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001F3F"/>
                          </a:solidFill>
                          <a:latin typeface="Calibri"/>
                        </a:rPr>
                        <a:t>Stok Fisik</a:t>
                      </a:r>
                    </a:p>
                  </a:txBody>
                  <a:tcPr anchor="ctr">
                    <a:solidFill>
                      <a:srgbClr val="40E0D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001F3F"/>
                          </a:solidFill>
                          <a:latin typeface="Calibri"/>
                        </a:rPr>
                        <a:t>Out. SO</a:t>
                      </a:r>
                    </a:p>
                  </a:txBody>
                  <a:tcPr anchor="ctr">
                    <a:solidFill>
                      <a:srgbClr val="40E0D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001F3F"/>
                          </a:solidFill>
                          <a:latin typeface="Calibri"/>
                        </a:rPr>
                        <a:t>Intransit</a:t>
                      </a:r>
                    </a:p>
                  </a:txBody>
                  <a:tcPr anchor="ctr">
                    <a:solidFill>
                      <a:srgbClr val="40E0D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001F3F"/>
                          </a:solidFill>
                          <a:latin typeface="Calibri"/>
                        </a:rPr>
                        <a:t>Stok Admin</a:t>
                      </a:r>
                    </a:p>
                  </a:txBody>
                  <a:tcPr anchor="ctr">
                    <a:solidFill>
                      <a:srgbClr val="40E0D0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Urea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2,148.70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90.00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90.60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07BFF"/>
                          </a:solidFill>
                          <a:latin typeface="Calibri"/>
                        </a:rPr>
                        <a:t>2,149.30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6342735" y="1828800"/>
            <a:ext cx="2695879" cy="1696212"/>
          </a:xfrm>
          <a:prstGeom prst="rect">
            <a:avLst/>
          </a:prstGeom>
          <a:solidFill>
            <a:srgbClr val="E8E8E8"/>
          </a:solidFill>
          <a:ln w="63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i="1">
                <a:solidFill>
                  <a:srgbClr val="999999"/>
                </a:solidFill>
                <a:latin typeface="Calibri"/>
              </a:rPr>
              <a:t>CCTV Depan
(Tidak tersedia)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11767" y="1828800"/>
            <a:ext cx="2695879" cy="1696212"/>
          </a:xfrm>
          <a:prstGeom prst="rect">
            <a:avLst/>
          </a:prstGeom>
          <a:solidFill>
            <a:srgbClr val="E8E8E8"/>
          </a:solidFill>
          <a:ln w="63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i="1">
                <a:solidFill>
                  <a:srgbClr val="999999"/>
                </a:solidFill>
                <a:latin typeface="Calibri"/>
              </a:rPr>
              <a:t>CCTV Dalam
(Tidak tersedia)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4320" y="3863339"/>
            <a:ext cx="5684367" cy="27203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84048" y="3973068"/>
            <a:ext cx="5464911" cy="274320"/>
          </a:xfrm>
          <a:prstGeom prst="rect">
            <a:avLst/>
          </a:prstGeom>
          <a:solidFill>
            <a:srgbClr val="001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18288"/>
          <a:lstStyle/>
          <a:p>
            <a:pPr algn="l"/>
            <a:r>
              <a:rPr sz="800" b="1">
                <a:solidFill>
                  <a:srgbClr val="FFFFFF"/>
                </a:solidFill>
                <a:latin typeface="Calibri"/>
              </a:rPr>
              <a:t>BATANG - KASEPUHAN  (B3CP/F397)  —  JAWA TENGAH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384048" y="4302252"/>
          <a:ext cx="5464909" cy="603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11578"/>
                <a:gridCol w="1001900"/>
                <a:gridCol w="1001900"/>
                <a:gridCol w="1001900"/>
                <a:gridCol w="1147631"/>
              </a:tblGrid>
              <a:tr h="201168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001F3F"/>
                          </a:solidFill>
                          <a:latin typeface="Calibri"/>
                        </a:rPr>
                        <a:t>Jenis</a:t>
                      </a:r>
                    </a:p>
                  </a:txBody>
                  <a:tcPr anchor="ctr">
                    <a:solidFill>
                      <a:srgbClr val="40E0D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001F3F"/>
                          </a:solidFill>
                          <a:latin typeface="Calibri"/>
                        </a:rPr>
                        <a:t>Stok Fisik</a:t>
                      </a:r>
                    </a:p>
                  </a:txBody>
                  <a:tcPr anchor="ctr">
                    <a:solidFill>
                      <a:srgbClr val="40E0D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001F3F"/>
                          </a:solidFill>
                          <a:latin typeface="Calibri"/>
                        </a:rPr>
                        <a:t>Out. SO</a:t>
                      </a:r>
                    </a:p>
                  </a:txBody>
                  <a:tcPr anchor="ctr">
                    <a:solidFill>
                      <a:srgbClr val="40E0D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001F3F"/>
                          </a:solidFill>
                          <a:latin typeface="Calibri"/>
                        </a:rPr>
                        <a:t>Intransit</a:t>
                      </a:r>
                    </a:p>
                  </a:txBody>
                  <a:tcPr anchor="ctr">
                    <a:solidFill>
                      <a:srgbClr val="40E0D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001F3F"/>
                          </a:solidFill>
                          <a:latin typeface="Calibri"/>
                        </a:rPr>
                        <a:t>Stok Admin</a:t>
                      </a:r>
                    </a:p>
                  </a:txBody>
                  <a:tcPr anchor="ctr">
                    <a:solidFill>
                      <a:srgbClr val="40E0D0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NPK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372.40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42.00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191.25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07BFF"/>
                          </a:solidFill>
                          <a:latin typeface="Calibri"/>
                        </a:rPr>
                        <a:t>521.65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Urea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1,376.90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68.00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0.00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07BFF"/>
                          </a:solidFill>
                          <a:latin typeface="Calibri"/>
                        </a:rPr>
                        <a:t>1,308.90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16" name="Rectangle 15"/>
          <p:cNvSpPr/>
          <p:nvPr/>
        </p:nvSpPr>
        <p:spPr>
          <a:xfrm>
            <a:off x="384048" y="4978908"/>
            <a:ext cx="2695879" cy="1495043"/>
          </a:xfrm>
          <a:prstGeom prst="rect">
            <a:avLst/>
          </a:prstGeom>
          <a:solidFill>
            <a:srgbClr val="E8E8E8"/>
          </a:solidFill>
          <a:ln w="63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i="1">
                <a:solidFill>
                  <a:srgbClr val="999999"/>
                </a:solidFill>
                <a:latin typeface="Calibri"/>
              </a:rPr>
              <a:t>CCTV Depan
(Tidak tersedia)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153079" y="4978908"/>
            <a:ext cx="2695879" cy="1495043"/>
          </a:xfrm>
          <a:prstGeom prst="rect">
            <a:avLst/>
          </a:prstGeom>
          <a:solidFill>
            <a:srgbClr val="E8E8E8"/>
          </a:solidFill>
          <a:ln w="63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i="1">
                <a:solidFill>
                  <a:srgbClr val="999999"/>
                </a:solidFill>
                <a:latin typeface="Calibri"/>
              </a:rPr>
              <a:t>CCTV Dalam
(Tidak tersedia)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33007" y="3863339"/>
            <a:ext cx="5684367" cy="27203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42735" y="3973068"/>
            <a:ext cx="5464911" cy="274320"/>
          </a:xfrm>
          <a:prstGeom prst="rect">
            <a:avLst/>
          </a:prstGeom>
          <a:solidFill>
            <a:srgbClr val="001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18288"/>
          <a:lstStyle/>
          <a:p>
            <a:pPr algn="l"/>
            <a:r>
              <a:rPr sz="800" b="1">
                <a:solidFill>
                  <a:srgbClr val="FFFFFF"/>
                </a:solidFill>
                <a:latin typeface="Calibri"/>
              </a:rPr>
              <a:t>BGR BOJONG, PURBALINGGA  (F322)  —  JAWA TENGAH</a:t>
            </a:r>
          </a:p>
        </p:txBody>
      </p:sp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6342735" y="4302252"/>
          <a:ext cx="5464909" cy="4023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11578"/>
                <a:gridCol w="1001900"/>
                <a:gridCol w="1001900"/>
                <a:gridCol w="1001900"/>
                <a:gridCol w="1147631"/>
              </a:tblGrid>
              <a:tr h="201168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001F3F"/>
                          </a:solidFill>
                          <a:latin typeface="Calibri"/>
                        </a:rPr>
                        <a:t>Jenis</a:t>
                      </a:r>
                    </a:p>
                  </a:txBody>
                  <a:tcPr anchor="ctr">
                    <a:solidFill>
                      <a:srgbClr val="40E0D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001F3F"/>
                          </a:solidFill>
                          <a:latin typeface="Calibri"/>
                        </a:rPr>
                        <a:t>Stok Fisik</a:t>
                      </a:r>
                    </a:p>
                  </a:txBody>
                  <a:tcPr anchor="ctr">
                    <a:solidFill>
                      <a:srgbClr val="40E0D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001F3F"/>
                          </a:solidFill>
                          <a:latin typeface="Calibri"/>
                        </a:rPr>
                        <a:t>Out. SO</a:t>
                      </a:r>
                    </a:p>
                  </a:txBody>
                  <a:tcPr anchor="ctr">
                    <a:solidFill>
                      <a:srgbClr val="40E0D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001F3F"/>
                          </a:solidFill>
                          <a:latin typeface="Calibri"/>
                        </a:rPr>
                        <a:t>Intransit</a:t>
                      </a:r>
                    </a:p>
                  </a:txBody>
                  <a:tcPr anchor="ctr">
                    <a:solidFill>
                      <a:srgbClr val="40E0D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001F3F"/>
                          </a:solidFill>
                          <a:latin typeface="Calibri"/>
                        </a:rPr>
                        <a:t>Stok Admin</a:t>
                      </a:r>
                    </a:p>
                  </a:txBody>
                  <a:tcPr anchor="ctr">
                    <a:solidFill>
                      <a:srgbClr val="40E0D0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Urea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2,862.35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46.00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19.40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07BFF"/>
                          </a:solidFill>
                          <a:latin typeface="Calibri"/>
                        </a:rPr>
                        <a:t>2,835.75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1" name="Rectangle 20"/>
          <p:cNvSpPr/>
          <p:nvPr/>
        </p:nvSpPr>
        <p:spPr>
          <a:xfrm>
            <a:off x="6342735" y="4777740"/>
            <a:ext cx="2695879" cy="1696211"/>
          </a:xfrm>
          <a:prstGeom prst="rect">
            <a:avLst/>
          </a:prstGeom>
          <a:solidFill>
            <a:srgbClr val="E8E8E8"/>
          </a:solidFill>
          <a:ln w="63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i="1">
                <a:solidFill>
                  <a:srgbClr val="999999"/>
                </a:solidFill>
                <a:latin typeface="Calibri"/>
              </a:rPr>
              <a:t>CCTV Depan
(Tidak tersedia)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111767" y="4777740"/>
            <a:ext cx="2695879" cy="1696211"/>
          </a:xfrm>
          <a:prstGeom prst="rect">
            <a:avLst/>
          </a:prstGeom>
          <a:solidFill>
            <a:srgbClr val="E8E8E8"/>
          </a:solidFill>
          <a:ln w="63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i="1">
                <a:solidFill>
                  <a:srgbClr val="999999"/>
                </a:solidFill>
                <a:latin typeface="Calibri"/>
              </a:rPr>
              <a:t>CCTV Dalam
(Tidak tersedia)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274320" y="914400"/>
            <a:ext cx="5684367" cy="27203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84048" y="1024128"/>
            <a:ext cx="5464911" cy="274320"/>
          </a:xfrm>
          <a:prstGeom prst="rect">
            <a:avLst/>
          </a:prstGeom>
          <a:solidFill>
            <a:srgbClr val="001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18288"/>
          <a:lstStyle/>
          <a:p>
            <a:pPr algn="l"/>
            <a:r>
              <a:rPr sz="800" b="1">
                <a:solidFill>
                  <a:srgbClr val="FFFFFF"/>
                </a:solidFill>
                <a:latin typeface="Calibri"/>
              </a:rPr>
              <a:t>BGR NGADIROJO, WONOGIRI  (F330)  —  JAWA TENGAH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84048" y="1353312"/>
          <a:ext cx="5464909" cy="4023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11578"/>
                <a:gridCol w="1001900"/>
                <a:gridCol w="1001900"/>
                <a:gridCol w="1001900"/>
                <a:gridCol w="1147631"/>
              </a:tblGrid>
              <a:tr h="201168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001F3F"/>
                          </a:solidFill>
                          <a:latin typeface="Calibri"/>
                        </a:rPr>
                        <a:t>Jenis</a:t>
                      </a:r>
                    </a:p>
                  </a:txBody>
                  <a:tcPr anchor="ctr">
                    <a:solidFill>
                      <a:srgbClr val="40E0D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001F3F"/>
                          </a:solidFill>
                          <a:latin typeface="Calibri"/>
                        </a:rPr>
                        <a:t>Stok Fisik</a:t>
                      </a:r>
                    </a:p>
                  </a:txBody>
                  <a:tcPr anchor="ctr">
                    <a:solidFill>
                      <a:srgbClr val="40E0D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001F3F"/>
                          </a:solidFill>
                          <a:latin typeface="Calibri"/>
                        </a:rPr>
                        <a:t>Out. SO</a:t>
                      </a:r>
                    </a:p>
                  </a:txBody>
                  <a:tcPr anchor="ctr">
                    <a:solidFill>
                      <a:srgbClr val="40E0D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001F3F"/>
                          </a:solidFill>
                          <a:latin typeface="Calibri"/>
                        </a:rPr>
                        <a:t>Intransit</a:t>
                      </a:r>
                    </a:p>
                  </a:txBody>
                  <a:tcPr anchor="ctr">
                    <a:solidFill>
                      <a:srgbClr val="40E0D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001F3F"/>
                          </a:solidFill>
                          <a:latin typeface="Calibri"/>
                        </a:rPr>
                        <a:t>Stok Admin</a:t>
                      </a:r>
                    </a:p>
                  </a:txBody>
                  <a:tcPr anchor="ctr">
                    <a:solidFill>
                      <a:srgbClr val="40E0D0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Urea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282.75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265.00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106.40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07BFF"/>
                          </a:solidFill>
                          <a:latin typeface="Calibri"/>
                        </a:rPr>
                        <a:t>124.15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384048" y="1828800"/>
            <a:ext cx="2695879" cy="1696212"/>
          </a:xfrm>
          <a:prstGeom prst="rect">
            <a:avLst/>
          </a:prstGeom>
          <a:solidFill>
            <a:srgbClr val="E8E8E8"/>
          </a:solidFill>
          <a:ln w="63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i="1">
                <a:solidFill>
                  <a:srgbClr val="999999"/>
                </a:solidFill>
                <a:latin typeface="Calibri"/>
              </a:rPr>
              <a:t>CCTV Depan
(Tidak tersedia)</a:t>
            </a:r>
          </a:p>
        </p:txBody>
      </p:sp>
      <p:sp>
        <p:nvSpPr>
          <p:cNvPr id="7" name="Rectangle 6"/>
          <p:cNvSpPr/>
          <p:nvPr/>
        </p:nvSpPr>
        <p:spPr>
          <a:xfrm>
            <a:off x="3153079" y="1828800"/>
            <a:ext cx="2695879" cy="1696212"/>
          </a:xfrm>
          <a:prstGeom prst="rect">
            <a:avLst/>
          </a:prstGeom>
          <a:solidFill>
            <a:srgbClr val="E8E8E8"/>
          </a:solidFill>
          <a:ln w="63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i="1">
                <a:solidFill>
                  <a:srgbClr val="999999"/>
                </a:solidFill>
                <a:latin typeface="Calibri"/>
              </a:rPr>
              <a:t>CCTV Dalam
(Tidak tersedia)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274320" y="914400"/>
            <a:ext cx="5684367" cy="27203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84048" y="1024128"/>
            <a:ext cx="5464911" cy="274320"/>
          </a:xfrm>
          <a:prstGeom prst="rect">
            <a:avLst/>
          </a:prstGeom>
          <a:solidFill>
            <a:srgbClr val="001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18288"/>
          <a:lstStyle/>
          <a:p>
            <a:pPr algn="l"/>
            <a:r>
              <a:rPr sz="800" b="1">
                <a:solidFill>
                  <a:srgbClr val="FFFFFF"/>
                </a:solidFill>
                <a:latin typeface="Calibri"/>
              </a:rPr>
              <a:t>Bojonegoro - Sumberejo  (B372)  —  JAWA TIMUR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84048" y="1353312"/>
          <a:ext cx="5464909" cy="603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11578"/>
                <a:gridCol w="1001900"/>
                <a:gridCol w="1001900"/>
                <a:gridCol w="1001900"/>
                <a:gridCol w="1147631"/>
              </a:tblGrid>
              <a:tr h="201168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001F3F"/>
                          </a:solidFill>
                          <a:latin typeface="Calibri"/>
                        </a:rPr>
                        <a:t>Jenis</a:t>
                      </a:r>
                    </a:p>
                  </a:txBody>
                  <a:tcPr anchor="ctr">
                    <a:solidFill>
                      <a:srgbClr val="40E0D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001F3F"/>
                          </a:solidFill>
                          <a:latin typeface="Calibri"/>
                        </a:rPr>
                        <a:t>Stok Fisik</a:t>
                      </a:r>
                    </a:p>
                  </a:txBody>
                  <a:tcPr anchor="ctr">
                    <a:solidFill>
                      <a:srgbClr val="40E0D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001F3F"/>
                          </a:solidFill>
                          <a:latin typeface="Calibri"/>
                        </a:rPr>
                        <a:t>Out. SO</a:t>
                      </a:r>
                    </a:p>
                  </a:txBody>
                  <a:tcPr anchor="ctr">
                    <a:solidFill>
                      <a:srgbClr val="40E0D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001F3F"/>
                          </a:solidFill>
                          <a:latin typeface="Calibri"/>
                        </a:rPr>
                        <a:t>Intransit</a:t>
                      </a:r>
                    </a:p>
                  </a:txBody>
                  <a:tcPr anchor="ctr">
                    <a:solidFill>
                      <a:srgbClr val="40E0D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001F3F"/>
                          </a:solidFill>
                          <a:latin typeface="Calibri"/>
                        </a:rPr>
                        <a:t>Stok Admin</a:t>
                      </a:r>
                    </a:p>
                  </a:txBody>
                  <a:tcPr anchor="ctr">
                    <a:solidFill>
                      <a:srgbClr val="40E0D0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NPK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243.30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115.00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0.00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07BFF"/>
                          </a:solidFill>
                          <a:latin typeface="Calibri"/>
                        </a:rPr>
                        <a:t>128.30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Urea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3,744.15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132.00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187.50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07BFF"/>
                          </a:solidFill>
                          <a:latin typeface="Calibri"/>
                        </a:rPr>
                        <a:t>3,799.65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" y="2029967"/>
            <a:ext cx="2695879" cy="1495044"/>
          </a:xfrm>
          <a:prstGeom prst="rect">
            <a:avLst/>
          </a:prstGeom>
        </p:spPr>
      </p:pic>
      <p:pic>
        <p:nvPicPr>
          <p:cNvPr id="7" name="Picture 6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53079" y="2029967"/>
            <a:ext cx="2695879" cy="1495044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233007" y="914400"/>
            <a:ext cx="5684367" cy="27203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342735" y="1024128"/>
            <a:ext cx="5464911" cy="274320"/>
          </a:xfrm>
          <a:prstGeom prst="rect">
            <a:avLst/>
          </a:prstGeom>
          <a:solidFill>
            <a:srgbClr val="001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18288"/>
          <a:lstStyle/>
          <a:p>
            <a:pPr algn="l"/>
            <a:r>
              <a:rPr sz="800" b="1">
                <a:solidFill>
                  <a:srgbClr val="FFFFFF"/>
                </a:solidFill>
                <a:latin typeface="Calibri"/>
              </a:rPr>
              <a:t>GPP Banyuwangi - Kabat  (B3DW/D307)  —  JAWA TIMUR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342735" y="1353312"/>
          <a:ext cx="5464909" cy="603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11578"/>
                <a:gridCol w="1001900"/>
                <a:gridCol w="1001900"/>
                <a:gridCol w="1001900"/>
                <a:gridCol w="1147631"/>
              </a:tblGrid>
              <a:tr h="201168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001F3F"/>
                          </a:solidFill>
                          <a:latin typeface="Calibri"/>
                        </a:rPr>
                        <a:t>Jenis</a:t>
                      </a:r>
                    </a:p>
                  </a:txBody>
                  <a:tcPr anchor="ctr">
                    <a:solidFill>
                      <a:srgbClr val="40E0D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001F3F"/>
                          </a:solidFill>
                          <a:latin typeface="Calibri"/>
                        </a:rPr>
                        <a:t>Stok Fisik</a:t>
                      </a:r>
                    </a:p>
                  </a:txBody>
                  <a:tcPr anchor="ctr">
                    <a:solidFill>
                      <a:srgbClr val="40E0D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001F3F"/>
                          </a:solidFill>
                          <a:latin typeface="Calibri"/>
                        </a:rPr>
                        <a:t>Out. SO</a:t>
                      </a:r>
                    </a:p>
                  </a:txBody>
                  <a:tcPr anchor="ctr">
                    <a:solidFill>
                      <a:srgbClr val="40E0D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001F3F"/>
                          </a:solidFill>
                          <a:latin typeface="Calibri"/>
                        </a:rPr>
                        <a:t>Intransit</a:t>
                      </a:r>
                    </a:p>
                  </a:txBody>
                  <a:tcPr anchor="ctr">
                    <a:solidFill>
                      <a:srgbClr val="40E0D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001F3F"/>
                          </a:solidFill>
                          <a:latin typeface="Calibri"/>
                        </a:rPr>
                        <a:t>Stok Admin</a:t>
                      </a:r>
                    </a:p>
                  </a:txBody>
                  <a:tcPr anchor="ctr">
                    <a:solidFill>
                      <a:srgbClr val="40E0D0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NPK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171.90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81.00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315.25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07BFF"/>
                          </a:solidFill>
                          <a:latin typeface="Calibri"/>
                        </a:rPr>
                        <a:t>406.15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Urea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1,579.95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245.00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0.00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07BFF"/>
                          </a:solidFill>
                          <a:latin typeface="Calibri"/>
                        </a:rPr>
                        <a:t>1,334.95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pic>
        <p:nvPicPr>
          <p:cNvPr id="11" name="Picture 10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42735" y="2029967"/>
            <a:ext cx="2695879" cy="1495044"/>
          </a:xfrm>
          <a:prstGeom prst="rect">
            <a:avLst/>
          </a:prstGeom>
        </p:spPr>
      </p:pic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11767" y="2029967"/>
            <a:ext cx="2695879" cy="1495044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274320" y="3863339"/>
            <a:ext cx="5684367" cy="27203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84048" y="3973068"/>
            <a:ext cx="5464911" cy="274320"/>
          </a:xfrm>
          <a:prstGeom prst="rect">
            <a:avLst/>
          </a:prstGeom>
          <a:solidFill>
            <a:srgbClr val="001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18288"/>
          <a:lstStyle/>
          <a:p>
            <a:pPr algn="l"/>
            <a:r>
              <a:rPr sz="800" b="1">
                <a:solidFill>
                  <a:srgbClr val="FFFFFF"/>
                </a:solidFill>
                <a:latin typeface="Calibri"/>
              </a:rPr>
              <a:t>GPP Bangkalan - Keleyan  (B3BV)  —  JAWA TIMUR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384048" y="4302252"/>
          <a:ext cx="5464909" cy="603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11578"/>
                <a:gridCol w="1001900"/>
                <a:gridCol w="1001900"/>
                <a:gridCol w="1001900"/>
                <a:gridCol w="1147631"/>
              </a:tblGrid>
              <a:tr h="201168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001F3F"/>
                          </a:solidFill>
                          <a:latin typeface="Calibri"/>
                        </a:rPr>
                        <a:t>Jenis</a:t>
                      </a:r>
                    </a:p>
                  </a:txBody>
                  <a:tcPr anchor="ctr">
                    <a:solidFill>
                      <a:srgbClr val="40E0D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001F3F"/>
                          </a:solidFill>
                          <a:latin typeface="Calibri"/>
                        </a:rPr>
                        <a:t>Stok Fisik</a:t>
                      </a:r>
                    </a:p>
                  </a:txBody>
                  <a:tcPr anchor="ctr">
                    <a:solidFill>
                      <a:srgbClr val="40E0D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001F3F"/>
                          </a:solidFill>
                          <a:latin typeface="Calibri"/>
                        </a:rPr>
                        <a:t>Out. SO</a:t>
                      </a:r>
                    </a:p>
                  </a:txBody>
                  <a:tcPr anchor="ctr">
                    <a:solidFill>
                      <a:srgbClr val="40E0D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001F3F"/>
                          </a:solidFill>
                          <a:latin typeface="Calibri"/>
                        </a:rPr>
                        <a:t>Intransit</a:t>
                      </a:r>
                    </a:p>
                  </a:txBody>
                  <a:tcPr anchor="ctr">
                    <a:solidFill>
                      <a:srgbClr val="40E0D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001F3F"/>
                          </a:solidFill>
                          <a:latin typeface="Calibri"/>
                        </a:rPr>
                        <a:t>Stok Admin</a:t>
                      </a:r>
                    </a:p>
                  </a:txBody>
                  <a:tcPr anchor="ctr">
                    <a:solidFill>
                      <a:srgbClr val="40E0D0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NPK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148.80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0.00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116.00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07BFF"/>
                          </a:solidFill>
                          <a:latin typeface="Calibri"/>
                        </a:rPr>
                        <a:t>264.80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Urea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1,063.00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0.00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0.00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07BFF"/>
                          </a:solidFill>
                          <a:latin typeface="Calibri"/>
                        </a:rPr>
                        <a:t>1,063.00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16" name="Rectangle 15"/>
          <p:cNvSpPr/>
          <p:nvPr/>
        </p:nvSpPr>
        <p:spPr>
          <a:xfrm>
            <a:off x="384048" y="4978908"/>
            <a:ext cx="2695879" cy="1495043"/>
          </a:xfrm>
          <a:prstGeom prst="rect">
            <a:avLst/>
          </a:prstGeom>
          <a:solidFill>
            <a:srgbClr val="E8E8E8"/>
          </a:solidFill>
          <a:ln w="63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i="1">
                <a:solidFill>
                  <a:srgbClr val="999999"/>
                </a:solidFill>
                <a:latin typeface="Calibri"/>
              </a:rPr>
              <a:t>CCTV Depan
(Tidak tersedia)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153079" y="4978908"/>
            <a:ext cx="2695879" cy="1495043"/>
          </a:xfrm>
          <a:prstGeom prst="rect">
            <a:avLst/>
          </a:prstGeom>
          <a:solidFill>
            <a:srgbClr val="E8E8E8"/>
          </a:solidFill>
          <a:ln w="63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i="1">
                <a:solidFill>
                  <a:srgbClr val="999999"/>
                </a:solidFill>
                <a:latin typeface="Calibri"/>
              </a:rPr>
              <a:t>CCTV Dalam
(Tidak tersedia)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33007" y="3863339"/>
            <a:ext cx="5684367" cy="27203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42735" y="3973068"/>
            <a:ext cx="5464911" cy="274320"/>
          </a:xfrm>
          <a:prstGeom prst="rect">
            <a:avLst/>
          </a:prstGeom>
          <a:solidFill>
            <a:srgbClr val="001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18288"/>
          <a:lstStyle/>
          <a:p>
            <a:pPr algn="l"/>
            <a:r>
              <a:rPr sz="800" b="1">
                <a:solidFill>
                  <a:srgbClr val="FFFFFF"/>
                </a:solidFill>
                <a:latin typeface="Calibri"/>
              </a:rPr>
              <a:t>GPP Blitar - Garum  (B3CS/D3AH)  —  JAWA TIMUR</a:t>
            </a:r>
          </a:p>
        </p:txBody>
      </p:sp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6342735" y="4302252"/>
          <a:ext cx="5464909" cy="603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11578"/>
                <a:gridCol w="1001900"/>
                <a:gridCol w="1001900"/>
                <a:gridCol w="1001900"/>
                <a:gridCol w="1147631"/>
              </a:tblGrid>
              <a:tr h="201168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001F3F"/>
                          </a:solidFill>
                          <a:latin typeface="Calibri"/>
                        </a:rPr>
                        <a:t>Jenis</a:t>
                      </a:r>
                    </a:p>
                  </a:txBody>
                  <a:tcPr anchor="ctr">
                    <a:solidFill>
                      <a:srgbClr val="40E0D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001F3F"/>
                          </a:solidFill>
                          <a:latin typeface="Calibri"/>
                        </a:rPr>
                        <a:t>Stok Fisik</a:t>
                      </a:r>
                    </a:p>
                  </a:txBody>
                  <a:tcPr anchor="ctr">
                    <a:solidFill>
                      <a:srgbClr val="40E0D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001F3F"/>
                          </a:solidFill>
                          <a:latin typeface="Calibri"/>
                        </a:rPr>
                        <a:t>Out. SO</a:t>
                      </a:r>
                    </a:p>
                  </a:txBody>
                  <a:tcPr anchor="ctr">
                    <a:solidFill>
                      <a:srgbClr val="40E0D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001F3F"/>
                          </a:solidFill>
                          <a:latin typeface="Calibri"/>
                        </a:rPr>
                        <a:t>Intransit</a:t>
                      </a:r>
                    </a:p>
                  </a:txBody>
                  <a:tcPr anchor="ctr">
                    <a:solidFill>
                      <a:srgbClr val="40E0D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001F3F"/>
                          </a:solidFill>
                          <a:latin typeface="Calibri"/>
                        </a:rPr>
                        <a:t>Stok Admin</a:t>
                      </a:r>
                    </a:p>
                  </a:txBody>
                  <a:tcPr anchor="ctr">
                    <a:solidFill>
                      <a:srgbClr val="40E0D0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NPK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184.50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405.00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123.20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CC0000"/>
                          </a:solidFill>
                          <a:latin typeface="Calibri"/>
                        </a:rPr>
                        <a:t>-97.30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Urea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931.25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283.00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36.20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07BFF"/>
                          </a:solidFill>
                          <a:latin typeface="Calibri"/>
                        </a:rPr>
                        <a:t>684.45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pic>
        <p:nvPicPr>
          <p:cNvPr id="21" name="Picture 20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42735" y="4978908"/>
            <a:ext cx="2695879" cy="1495043"/>
          </a:xfrm>
          <a:prstGeom prst="rect">
            <a:avLst/>
          </a:prstGeom>
        </p:spPr>
      </p:pic>
      <p:pic>
        <p:nvPicPr>
          <p:cNvPr id="22" name="Picture 21" descr="image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11767" y="4978908"/>
            <a:ext cx="2695879" cy="149504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274320" y="914400"/>
            <a:ext cx="5684367" cy="27203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84048" y="1024128"/>
            <a:ext cx="5464911" cy="274320"/>
          </a:xfrm>
          <a:prstGeom prst="rect">
            <a:avLst/>
          </a:prstGeom>
          <a:solidFill>
            <a:srgbClr val="001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18288"/>
          <a:lstStyle/>
          <a:p>
            <a:pPr algn="l"/>
            <a:r>
              <a:rPr sz="800" b="1">
                <a:solidFill>
                  <a:srgbClr val="FFFFFF"/>
                </a:solidFill>
                <a:latin typeface="Calibri"/>
              </a:rPr>
              <a:t>GPP Bondowoso - Wonosari  (B3DU/D3GD)  —  JAWA TIMUR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84048" y="1353312"/>
          <a:ext cx="5464909" cy="603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11578"/>
                <a:gridCol w="1001900"/>
                <a:gridCol w="1001900"/>
                <a:gridCol w="1001900"/>
                <a:gridCol w="1147631"/>
              </a:tblGrid>
              <a:tr h="201168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001F3F"/>
                          </a:solidFill>
                          <a:latin typeface="Calibri"/>
                        </a:rPr>
                        <a:t>Jenis</a:t>
                      </a:r>
                    </a:p>
                  </a:txBody>
                  <a:tcPr anchor="ctr">
                    <a:solidFill>
                      <a:srgbClr val="40E0D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001F3F"/>
                          </a:solidFill>
                          <a:latin typeface="Calibri"/>
                        </a:rPr>
                        <a:t>Stok Fisik</a:t>
                      </a:r>
                    </a:p>
                  </a:txBody>
                  <a:tcPr anchor="ctr">
                    <a:solidFill>
                      <a:srgbClr val="40E0D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001F3F"/>
                          </a:solidFill>
                          <a:latin typeface="Calibri"/>
                        </a:rPr>
                        <a:t>Out. SO</a:t>
                      </a:r>
                    </a:p>
                  </a:txBody>
                  <a:tcPr anchor="ctr">
                    <a:solidFill>
                      <a:srgbClr val="40E0D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001F3F"/>
                          </a:solidFill>
                          <a:latin typeface="Calibri"/>
                        </a:rPr>
                        <a:t>Intransit</a:t>
                      </a:r>
                    </a:p>
                  </a:txBody>
                  <a:tcPr anchor="ctr">
                    <a:solidFill>
                      <a:srgbClr val="40E0D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001F3F"/>
                          </a:solidFill>
                          <a:latin typeface="Calibri"/>
                        </a:rPr>
                        <a:t>Stok Admin</a:t>
                      </a:r>
                    </a:p>
                  </a:txBody>
                  <a:tcPr anchor="ctr">
                    <a:solidFill>
                      <a:srgbClr val="40E0D0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NPK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15.00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184.00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76.50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CC0000"/>
                          </a:solidFill>
                          <a:latin typeface="Calibri"/>
                        </a:rPr>
                        <a:t>-92.50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Urea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2,554.70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165.00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38.80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07BFF"/>
                          </a:solidFill>
                          <a:latin typeface="Calibri"/>
                        </a:rPr>
                        <a:t>2,428.50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" y="2029967"/>
            <a:ext cx="2695879" cy="1495044"/>
          </a:xfrm>
          <a:prstGeom prst="rect">
            <a:avLst/>
          </a:prstGeom>
        </p:spPr>
      </p:pic>
      <p:pic>
        <p:nvPicPr>
          <p:cNvPr id="7" name="Picture 6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53079" y="2029967"/>
            <a:ext cx="2695879" cy="1495044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233007" y="914400"/>
            <a:ext cx="5684367" cy="27203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342735" y="1024128"/>
            <a:ext cx="5464911" cy="274320"/>
          </a:xfrm>
          <a:prstGeom prst="rect">
            <a:avLst/>
          </a:prstGeom>
          <a:solidFill>
            <a:srgbClr val="001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18288"/>
          <a:lstStyle/>
          <a:p>
            <a:pPr algn="l"/>
            <a:r>
              <a:rPr sz="800" b="1">
                <a:solidFill>
                  <a:srgbClr val="FFFFFF"/>
                </a:solidFill>
                <a:latin typeface="Calibri"/>
              </a:rPr>
              <a:t>GPP Jember - Rambipuji  (B379/D312)  —  JAWA TIMUR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342735" y="1353312"/>
          <a:ext cx="5464909" cy="603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11578"/>
                <a:gridCol w="1001900"/>
                <a:gridCol w="1001900"/>
                <a:gridCol w="1001900"/>
                <a:gridCol w="1147631"/>
              </a:tblGrid>
              <a:tr h="201168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001F3F"/>
                          </a:solidFill>
                          <a:latin typeface="Calibri"/>
                        </a:rPr>
                        <a:t>Jenis</a:t>
                      </a:r>
                    </a:p>
                  </a:txBody>
                  <a:tcPr anchor="ctr">
                    <a:solidFill>
                      <a:srgbClr val="40E0D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001F3F"/>
                          </a:solidFill>
                          <a:latin typeface="Calibri"/>
                        </a:rPr>
                        <a:t>Stok Fisik</a:t>
                      </a:r>
                    </a:p>
                  </a:txBody>
                  <a:tcPr anchor="ctr">
                    <a:solidFill>
                      <a:srgbClr val="40E0D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001F3F"/>
                          </a:solidFill>
                          <a:latin typeface="Calibri"/>
                        </a:rPr>
                        <a:t>Out. SO</a:t>
                      </a:r>
                    </a:p>
                  </a:txBody>
                  <a:tcPr anchor="ctr">
                    <a:solidFill>
                      <a:srgbClr val="40E0D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001F3F"/>
                          </a:solidFill>
                          <a:latin typeface="Calibri"/>
                        </a:rPr>
                        <a:t>Intransit</a:t>
                      </a:r>
                    </a:p>
                  </a:txBody>
                  <a:tcPr anchor="ctr">
                    <a:solidFill>
                      <a:srgbClr val="40E0D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001F3F"/>
                          </a:solidFill>
                          <a:latin typeface="Calibri"/>
                        </a:rPr>
                        <a:t>Stok Admin</a:t>
                      </a:r>
                    </a:p>
                  </a:txBody>
                  <a:tcPr anchor="ctr">
                    <a:solidFill>
                      <a:srgbClr val="40E0D0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NPK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199.65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347.50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38.25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CC0000"/>
                          </a:solidFill>
                          <a:latin typeface="Calibri"/>
                        </a:rPr>
                        <a:t>-109.60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Urea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4,142.60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392.50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38.80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07BFF"/>
                          </a:solidFill>
                          <a:latin typeface="Calibri"/>
                        </a:rPr>
                        <a:t>3,788.90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pic>
        <p:nvPicPr>
          <p:cNvPr id="11" name="Picture 10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42735" y="2029967"/>
            <a:ext cx="2695879" cy="1495044"/>
          </a:xfrm>
          <a:prstGeom prst="rect">
            <a:avLst/>
          </a:prstGeom>
        </p:spPr>
      </p:pic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11767" y="2029967"/>
            <a:ext cx="2695879" cy="1495044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274320" y="3863339"/>
            <a:ext cx="5684367" cy="27203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84048" y="3973068"/>
            <a:ext cx="5464911" cy="274320"/>
          </a:xfrm>
          <a:prstGeom prst="rect">
            <a:avLst/>
          </a:prstGeom>
          <a:solidFill>
            <a:srgbClr val="001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18288"/>
          <a:lstStyle/>
          <a:p>
            <a:pPr algn="l"/>
            <a:r>
              <a:rPr sz="800" b="1">
                <a:solidFill>
                  <a:srgbClr val="FFFFFF"/>
                </a:solidFill>
                <a:latin typeface="Calibri"/>
              </a:rPr>
              <a:t>GPP Kediri - Ngadiluwih  (B3BW)  —  JAWA TIMUR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384048" y="4302252"/>
          <a:ext cx="5464909" cy="603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11578"/>
                <a:gridCol w="1001900"/>
                <a:gridCol w="1001900"/>
                <a:gridCol w="1001900"/>
                <a:gridCol w="1147631"/>
              </a:tblGrid>
              <a:tr h="201168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001F3F"/>
                          </a:solidFill>
                          <a:latin typeface="Calibri"/>
                        </a:rPr>
                        <a:t>Jenis</a:t>
                      </a:r>
                    </a:p>
                  </a:txBody>
                  <a:tcPr anchor="ctr">
                    <a:solidFill>
                      <a:srgbClr val="40E0D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001F3F"/>
                          </a:solidFill>
                          <a:latin typeface="Calibri"/>
                        </a:rPr>
                        <a:t>Stok Fisik</a:t>
                      </a:r>
                    </a:p>
                  </a:txBody>
                  <a:tcPr anchor="ctr">
                    <a:solidFill>
                      <a:srgbClr val="40E0D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001F3F"/>
                          </a:solidFill>
                          <a:latin typeface="Calibri"/>
                        </a:rPr>
                        <a:t>Out. SO</a:t>
                      </a:r>
                    </a:p>
                  </a:txBody>
                  <a:tcPr anchor="ctr">
                    <a:solidFill>
                      <a:srgbClr val="40E0D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001F3F"/>
                          </a:solidFill>
                          <a:latin typeface="Calibri"/>
                        </a:rPr>
                        <a:t>Intransit</a:t>
                      </a:r>
                    </a:p>
                  </a:txBody>
                  <a:tcPr anchor="ctr">
                    <a:solidFill>
                      <a:srgbClr val="40E0D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001F3F"/>
                          </a:solidFill>
                          <a:latin typeface="Calibri"/>
                        </a:rPr>
                        <a:t>Stok Admin</a:t>
                      </a:r>
                    </a:p>
                  </a:txBody>
                  <a:tcPr anchor="ctr">
                    <a:solidFill>
                      <a:srgbClr val="40E0D0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NPK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92.90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196.90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155.40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07BFF"/>
                          </a:solidFill>
                          <a:latin typeface="Calibri"/>
                        </a:rPr>
                        <a:t>51.40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Urea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1,141.55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148.60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42.20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07BFF"/>
                          </a:solidFill>
                          <a:latin typeface="Calibri"/>
                        </a:rPr>
                        <a:t>1,035.15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pic>
        <p:nvPicPr>
          <p:cNvPr id="16" name="Picture 15" descr="image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4048" y="4978908"/>
            <a:ext cx="2695879" cy="1495043"/>
          </a:xfrm>
          <a:prstGeom prst="rect">
            <a:avLst/>
          </a:prstGeom>
        </p:spPr>
      </p:pic>
      <p:pic>
        <p:nvPicPr>
          <p:cNvPr id="17" name="Picture 16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153079" y="4978908"/>
            <a:ext cx="2695879" cy="1495043"/>
          </a:xfrm>
          <a:prstGeom prst="rect">
            <a:avLst/>
          </a:prstGeom>
        </p:spPr>
      </p:pic>
      <p:sp>
        <p:nvSpPr>
          <p:cNvPr id="18" name="Rounded Rectangle 17"/>
          <p:cNvSpPr/>
          <p:nvPr/>
        </p:nvSpPr>
        <p:spPr>
          <a:xfrm>
            <a:off x="6233007" y="3863339"/>
            <a:ext cx="5684367" cy="27203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42735" y="3973068"/>
            <a:ext cx="5464911" cy="274320"/>
          </a:xfrm>
          <a:prstGeom prst="rect">
            <a:avLst/>
          </a:prstGeom>
          <a:solidFill>
            <a:srgbClr val="001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18288"/>
          <a:lstStyle/>
          <a:p>
            <a:pPr algn="l"/>
            <a:r>
              <a:rPr sz="800" b="1">
                <a:solidFill>
                  <a:srgbClr val="FFFFFF"/>
                </a:solidFill>
                <a:latin typeface="Calibri"/>
              </a:rPr>
              <a:t>GPP Lamongan - Kota  (B386)  —  JAWA TIMUR</a:t>
            </a:r>
          </a:p>
        </p:txBody>
      </p:sp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6342735" y="4302252"/>
          <a:ext cx="5464909" cy="603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11578"/>
                <a:gridCol w="1001900"/>
                <a:gridCol w="1001900"/>
                <a:gridCol w="1001900"/>
                <a:gridCol w="1147631"/>
              </a:tblGrid>
              <a:tr h="201168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001F3F"/>
                          </a:solidFill>
                          <a:latin typeface="Calibri"/>
                        </a:rPr>
                        <a:t>Jenis</a:t>
                      </a:r>
                    </a:p>
                  </a:txBody>
                  <a:tcPr anchor="ctr">
                    <a:solidFill>
                      <a:srgbClr val="40E0D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001F3F"/>
                          </a:solidFill>
                          <a:latin typeface="Calibri"/>
                        </a:rPr>
                        <a:t>Stok Fisik</a:t>
                      </a:r>
                    </a:p>
                  </a:txBody>
                  <a:tcPr anchor="ctr">
                    <a:solidFill>
                      <a:srgbClr val="40E0D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001F3F"/>
                          </a:solidFill>
                          <a:latin typeface="Calibri"/>
                        </a:rPr>
                        <a:t>Out. SO</a:t>
                      </a:r>
                    </a:p>
                  </a:txBody>
                  <a:tcPr anchor="ctr">
                    <a:solidFill>
                      <a:srgbClr val="40E0D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001F3F"/>
                          </a:solidFill>
                          <a:latin typeface="Calibri"/>
                        </a:rPr>
                        <a:t>Intransit</a:t>
                      </a:r>
                    </a:p>
                  </a:txBody>
                  <a:tcPr anchor="ctr">
                    <a:solidFill>
                      <a:srgbClr val="40E0D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001F3F"/>
                          </a:solidFill>
                          <a:latin typeface="Calibri"/>
                        </a:rPr>
                        <a:t>Stok Admin</a:t>
                      </a:r>
                    </a:p>
                  </a:txBody>
                  <a:tcPr anchor="ctr">
                    <a:solidFill>
                      <a:srgbClr val="40E0D0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NPK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481.00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274.15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0.00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07BFF"/>
                          </a:solidFill>
                          <a:latin typeface="Calibri"/>
                        </a:rPr>
                        <a:t>206.85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Urea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2,156.70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296.35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222.70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07BFF"/>
                          </a:solidFill>
                          <a:latin typeface="Calibri"/>
                        </a:rPr>
                        <a:t>2,083.05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pic>
        <p:nvPicPr>
          <p:cNvPr id="21" name="Picture 20" descr="image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42735" y="4978908"/>
            <a:ext cx="2695879" cy="1495043"/>
          </a:xfrm>
          <a:prstGeom prst="rect">
            <a:avLst/>
          </a:prstGeom>
        </p:spPr>
      </p:pic>
      <p:pic>
        <p:nvPicPr>
          <p:cNvPr id="22" name="Picture 21" descr="image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111767" y="4978908"/>
            <a:ext cx="2695879" cy="149504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274320" y="914400"/>
            <a:ext cx="5684367" cy="27203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84048" y="1024128"/>
            <a:ext cx="5464911" cy="274320"/>
          </a:xfrm>
          <a:prstGeom prst="rect">
            <a:avLst/>
          </a:prstGeom>
          <a:solidFill>
            <a:srgbClr val="001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18288"/>
          <a:lstStyle/>
          <a:p>
            <a:pPr algn="l"/>
            <a:r>
              <a:rPr sz="800" b="1">
                <a:solidFill>
                  <a:srgbClr val="FFFFFF"/>
                </a:solidFill>
                <a:latin typeface="Calibri"/>
              </a:rPr>
              <a:t>GPP Madiun - Kaligunting  (B3AT/D3AK)  —  JAWA TIMUR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84048" y="1353312"/>
          <a:ext cx="5464909" cy="603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11578"/>
                <a:gridCol w="1001900"/>
                <a:gridCol w="1001900"/>
                <a:gridCol w="1001900"/>
                <a:gridCol w="1147631"/>
              </a:tblGrid>
              <a:tr h="201168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001F3F"/>
                          </a:solidFill>
                          <a:latin typeface="Calibri"/>
                        </a:rPr>
                        <a:t>Jenis</a:t>
                      </a:r>
                    </a:p>
                  </a:txBody>
                  <a:tcPr anchor="ctr">
                    <a:solidFill>
                      <a:srgbClr val="40E0D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001F3F"/>
                          </a:solidFill>
                          <a:latin typeface="Calibri"/>
                        </a:rPr>
                        <a:t>Stok Fisik</a:t>
                      </a:r>
                    </a:p>
                  </a:txBody>
                  <a:tcPr anchor="ctr">
                    <a:solidFill>
                      <a:srgbClr val="40E0D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001F3F"/>
                          </a:solidFill>
                          <a:latin typeface="Calibri"/>
                        </a:rPr>
                        <a:t>Out. SO</a:t>
                      </a:r>
                    </a:p>
                  </a:txBody>
                  <a:tcPr anchor="ctr">
                    <a:solidFill>
                      <a:srgbClr val="40E0D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001F3F"/>
                          </a:solidFill>
                          <a:latin typeface="Calibri"/>
                        </a:rPr>
                        <a:t>Intransit</a:t>
                      </a:r>
                    </a:p>
                  </a:txBody>
                  <a:tcPr anchor="ctr">
                    <a:solidFill>
                      <a:srgbClr val="40E0D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001F3F"/>
                          </a:solidFill>
                          <a:latin typeface="Calibri"/>
                        </a:rPr>
                        <a:t>Stok Admin</a:t>
                      </a:r>
                    </a:p>
                  </a:txBody>
                  <a:tcPr anchor="ctr">
                    <a:solidFill>
                      <a:srgbClr val="40E0D0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NPK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41.45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232.20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59.25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CC0000"/>
                          </a:solidFill>
                          <a:latin typeface="Calibri"/>
                        </a:rPr>
                        <a:t>-131.50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Urea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1,510.30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248.75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286.50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07BFF"/>
                          </a:solidFill>
                          <a:latin typeface="Calibri"/>
                        </a:rPr>
                        <a:t>1,548.05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" y="2029967"/>
            <a:ext cx="2695879" cy="1495044"/>
          </a:xfrm>
          <a:prstGeom prst="rect">
            <a:avLst/>
          </a:prstGeom>
        </p:spPr>
      </p:pic>
      <p:pic>
        <p:nvPicPr>
          <p:cNvPr id="7" name="Picture 6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53079" y="2029967"/>
            <a:ext cx="2695879" cy="1495044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233007" y="914400"/>
            <a:ext cx="5684367" cy="27203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342735" y="1024128"/>
            <a:ext cx="5464911" cy="274320"/>
          </a:xfrm>
          <a:prstGeom prst="rect">
            <a:avLst/>
          </a:prstGeom>
          <a:solidFill>
            <a:srgbClr val="001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18288"/>
          <a:lstStyle/>
          <a:p>
            <a:pPr algn="l"/>
            <a:r>
              <a:rPr sz="800" b="1">
                <a:solidFill>
                  <a:srgbClr val="FFFFFF"/>
                </a:solidFill>
                <a:latin typeface="Calibri"/>
              </a:rPr>
              <a:t>GPP Malang - Pakisaji  (B3CR)  —  JAWA TIMUR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342735" y="1353312"/>
          <a:ext cx="5464909" cy="603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11578"/>
                <a:gridCol w="1001900"/>
                <a:gridCol w="1001900"/>
                <a:gridCol w="1001900"/>
                <a:gridCol w="1147631"/>
              </a:tblGrid>
              <a:tr h="201168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001F3F"/>
                          </a:solidFill>
                          <a:latin typeface="Calibri"/>
                        </a:rPr>
                        <a:t>Jenis</a:t>
                      </a:r>
                    </a:p>
                  </a:txBody>
                  <a:tcPr anchor="ctr">
                    <a:solidFill>
                      <a:srgbClr val="40E0D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001F3F"/>
                          </a:solidFill>
                          <a:latin typeface="Calibri"/>
                        </a:rPr>
                        <a:t>Stok Fisik</a:t>
                      </a:r>
                    </a:p>
                  </a:txBody>
                  <a:tcPr anchor="ctr">
                    <a:solidFill>
                      <a:srgbClr val="40E0D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001F3F"/>
                          </a:solidFill>
                          <a:latin typeface="Calibri"/>
                        </a:rPr>
                        <a:t>Out. SO</a:t>
                      </a:r>
                    </a:p>
                  </a:txBody>
                  <a:tcPr anchor="ctr">
                    <a:solidFill>
                      <a:srgbClr val="40E0D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001F3F"/>
                          </a:solidFill>
                          <a:latin typeface="Calibri"/>
                        </a:rPr>
                        <a:t>Intransit</a:t>
                      </a:r>
                    </a:p>
                  </a:txBody>
                  <a:tcPr anchor="ctr">
                    <a:solidFill>
                      <a:srgbClr val="40E0D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001F3F"/>
                          </a:solidFill>
                          <a:latin typeface="Calibri"/>
                        </a:rPr>
                        <a:t>Stok Admin</a:t>
                      </a:r>
                    </a:p>
                  </a:txBody>
                  <a:tcPr anchor="ctr">
                    <a:solidFill>
                      <a:srgbClr val="40E0D0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NPK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0.15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1,206.55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396.45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CC0000"/>
                          </a:solidFill>
                          <a:latin typeface="Calibri"/>
                        </a:rPr>
                        <a:t>-809.95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Urea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2,057.20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257.30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53.30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07BFF"/>
                          </a:solidFill>
                          <a:latin typeface="Calibri"/>
                        </a:rPr>
                        <a:t>1,853.20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pic>
        <p:nvPicPr>
          <p:cNvPr id="11" name="Picture 10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42735" y="2029967"/>
            <a:ext cx="2695879" cy="1495044"/>
          </a:xfrm>
          <a:prstGeom prst="rect">
            <a:avLst/>
          </a:prstGeom>
        </p:spPr>
      </p:pic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11767" y="2029967"/>
            <a:ext cx="2695879" cy="1495044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274320" y="3863339"/>
            <a:ext cx="5684367" cy="27203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84048" y="3973068"/>
            <a:ext cx="5464911" cy="274320"/>
          </a:xfrm>
          <a:prstGeom prst="rect">
            <a:avLst/>
          </a:prstGeom>
          <a:solidFill>
            <a:srgbClr val="001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18288"/>
          <a:lstStyle/>
          <a:p>
            <a:pPr algn="l"/>
            <a:r>
              <a:rPr sz="800" b="1">
                <a:solidFill>
                  <a:srgbClr val="FFFFFF"/>
                </a:solidFill>
                <a:latin typeface="Calibri"/>
              </a:rPr>
              <a:t>GPP Mojokerto - Sooko  (B394/D3AZ)  —  JAWA TIMUR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384048" y="4302252"/>
          <a:ext cx="5464909" cy="603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11578"/>
                <a:gridCol w="1001900"/>
                <a:gridCol w="1001900"/>
                <a:gridCol w="1001900"/>
                <a:gridCol w="1147631"/>
              </a:tblGrid>
              <a:tr h="201168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001F3F"/>
                          </a:solidFill>
                          <a:latin typeface="Calibri"/>
                        </a:rPr>
                        <a:t>Jenis</a:t>
                      </a:r>
                    </a:p>
                  </a:txBody>
                  <a:tcPr anchor="ctr">
                    <a:solidFill>
                      <a:srgbClr val="40E0D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001F3F"/>
                          </a:solidFill>
                          <a:latin typeface="Calibri"/>
                        </a:rPr>
                        <a:t>Stok Fisik</a:t>
                      </a:r>
                    </a:p>
                  </a:txBody>
                  <a:tcPr anchor="ctr">
                    <a:solidFill>
                      <a:srgbClr val="40E0D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001F3F"/>
                          </a:solidFill>
                          <a:latin typeface="Calibri"/>
                        </a:rPr>
                        <a:t>Out. SO</a:t>
                      </a:r>
                    </a:p>
                  </a:txBody>
                  <a:tcPr anchor="ctr">
                    <a:solidFill>
                      <a:srgbClr val="40E0D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001F3F"/>
                          </a:solidFill>
                          <a:latin typeface="Calibri"/>
                        </a:rPr>
                        <a:t>Intransit</a:t>
                      </a:r>
                    </a:p>
                  </a:txBody>
                  <a:tcPr anchor="ctr">
                    <a:solidFill>
                      <a:srgbClr val="40E0D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001F3F"/>
                          </a:solidFill>
                          <a:latin typeface="Calibri"/>
                        </a:rPr>
                        <a:t>Stok Admin</a:t>
                      </a:r>
                    </a:p>
                  </a:txBody>
                  <a:tcPr anchor="ctr">
                    <a:solidFill>
                      <a:srgbClr val="40E0D0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NPK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129.65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60.50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0.00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07BFF"/>
                          </a:solidFill>
                          <a:latin typeface="Calibri"/>
                        </a:rPr>
                        <a:t>69.15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Urea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3,313.10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82.00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55.75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07BFF"/>
                          </a:solidFill>
                          <a:latin typeface="Calibri"/>
                        </a:rPr>
                        <a:t>3,286.85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pic>
        <p:nvPicPr>
          <p:cNvPr id="16" name="Picture 15" descr="image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4048" y="4978908"/>
            <a:ext cx="2695879" cy="1495043"/>
          </a:xfrm>
          <a:prstGeom prst="rect">
            <a:avLst/>
          </a:prstGeom>
        </p:spPr>
      </p:pic>
      <p:pic>
        <p:nvPicPr>
          <p:cNvPr id="17" name="Picture 16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153079" y="4978908"/>
            <a:ext cx="2695879" cy="1495043"/>
          </a:xfrm>
          <a:prstGeom prst="rect">
            <a:avLst/>
          </a:prstGeom>
        </p:spPr>
      </p:pic>
      <p:sp>
        <p:nvSpPr>
          <p:cNvPr id="18" name="Rounded Rectangle 17"/>
          <p:cNvSpPr/>
          <p:nvPr/>
        </p:nvSpPr>
        <p:spPr>
          <a:xfrm>
            <a:off x="6233007" y="3863339"/>
            <a:ext cx="5684367" cy="27203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42735" y="3973068"/>
            <a:ext cx="5464911" cy="274320"/>
          </a:xfrm>
          <a:prstGeom prst="rect">
            <a:avLst/>
          </a:prstGeom>
          <a:solidFill>
            <a:srgbClr val="001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18288"/>
          <a:lstStyle/>
          <a:p>
            <a:pPr algn="l"/>
            <a:r>
              <a:rPr sz="800" b="1">
                <a:solidFill>
                  <a:srgbClr val="FFFFFF"/>
                </a:solidFill>
                <a:latin typeface="Calibri"/>
              </a:rPr>
              <a:t>GPP Nganjuk - Pehserut  (B3BY)  —  JAWA TIMUR</a:t>
            </a:r>
          </a:p>
        </p:txBody>
      </p:sp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6342735" y="4302252"/>
          <a:ext cx="5464909" cy="603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11578"/>
                <a:gridCol w="1001900"/>
                <a:gridCol w="1001900"/>
                <a:gridCol w="1001900"/>
                <a:gridCol w="1147631"/>
              </a:tblGrid>
              <a:tr h="201168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001F3F"/>
                          </a:solidFill>
                          <a:latin typeface="Calibri"/>
                        </a:rPr>
                        <a:t>Jenis</a:t>
                      </a:r>
                    </a:p>
                  </a:txBody>
                  <a:tcPr anchor="ctr">
                    <a:solidFill>
                      <a:srgbClr val="40E0D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001F3F"/>
                          </a:solidFill>
                          <a:latin typeface="Calibri"/>
                        </a:rPr>
                        <a:t>Stok Fisik</a:t>
                      </a:r>
                    </a:p>
                  </a:txBody>
                  <a:tcPr anchor="ctr">
                    <a:solidFill>
                      <a:srgbClr val="40E0D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001F3F"/>
                          </a:solidFill>
                          <a:latin typeface="Calibri"/>
                        </a:rPr>
                        <a:t>Out. SO</a:t>
                      </a:r>
                    </a:p>
                  </a:txBody>
                  <a:tcPr anchor="ctr">
                    <a:solidFill>
                      <a:srgbClr val="40E0D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001F3F"/>
                          </a:solidFill>
                          <a:latin typeface="Calibri"/>
                        </a:rPr>
                        <a:t>Intransit</a:t>
                      </a:r>
                    </a:p>
                  </a:txBody>
                  <a:tcPr anchor="ctr">
                    <a:solidFill>
                      <a:srgbClr val="40E0D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001F3F"/>
                          </a:solidFill>
                          <a:latin typeface="Calibri"/>
                        </a:rPr>
                        <a:t>Stok Admin</a:t>
                      </a:r>
                    </a:p>
                  </a:txBody>
                  <a:tcPr anchor="ctr">
                    <a:solidFill>
                      <a:srgbClr val="40E0D0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NPK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21.75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366.80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178.15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CC0000"/>
                          </a:solidFill>
                          <a:latin typeface="Calibri"/>
                        </a:rPr>
                        <a:t>-166.90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Urea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3,405.15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367.90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69.00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07BFF"/>
                          </a:solidFill>
                          <a:latin typeface="Calibri"/>
                        </a:rPr>
                        <a:t>3,106.25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pic>
        <p:nvPicPr>
          <p:cNvPr id="21" name="Picture 20" descr="image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42735" y="4978908"/>
            <a:ext cx="2695879" cy="1495043"/>
          </a:xfrm>
          <a:prstGeom prst="rect">
            <a:avLst/>
          </a:prstGeom>
        </p:spPr>
      </p:pic>
      <p:pic>
        <p:nvPicPr>
          <p:cNvPr id="22" name="Picture 21" descr="image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111767" y="4978908"/>
            <a:ext cx="2695879" cy="1495043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274320" y="914400"/>
            <a:ext cx="5684367" cy="27203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84048" y="1024128"/>
            <a:ext cx="5464911" cy="274320"/>
          </a:xfrm>
          <a:prstGeom prst="rect">
            <a:avLst/>
          </a:prstGeom>
          <a:solidFill>
            <a:srgbClr val="001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18288"/>
          <a:lstStyle/>
          <a:p>
            <a:pPr algn="l"/>
            <a:r>
              <a:rPr sz="800" b="1">
                <a:solidFill>
                  <a:srgbClr val="FFFFFF"/>
                </a:solidFill>
                <a:latin typeface="Calibri"/>
              </a:rPr>
              <a:t>GPP Situbondo - Kalibagor  (B3DV/D3GE)  —  JAWA TIMUR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84048" y="1353312"/>
          <a:ext cx="5464909" cy="603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11578"/>
                <a:gridCol w="1001900"/>
                <a:gridCol w="1001900"/>
                <a:gridCol w="1001900"/>
                <a:gridCol w="1147631"/>
              </a:tblGrid>
              <a:tr h="201168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001F3F"/>
                          </a:solidFill>
                          <a:latin typeface="Calibri"/>
                        </a:rPr>
                        <a:t>Jenis</a:t>
                      </a:r>
                    </a:p>
                  </a:txBody>
                  <a:tcPr anchor="ctr">
                    <a:solidFill>
                      <a:srgbClr val="40E0D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001F3F"/>
                          </a:solidFill>
                          <a:latin typeface="Calibri"/>
                        </a:rPr>
                        <a:t>Stok Fisik</a:t>
                      </a:r>
                    </a:p>
                  </a:txBody>
                  <a:tcPr anchor="ctr">
                    <a:solidFill>
                      <a:srgbClr val="40E0D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001F3F"/>
                          </a:solidFill>
                          <a:latin typeface="Calibri"/>
                        </a:rPr>
                        <a:t>Out. SO</a:t>
                      </a:r>
                    </a:p>
                  </a:txBody>
                  <a:tcPr anchor="ctr">
                    <a:solidFill>
                      <a:srgbClr val="40E0D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001F3F"/>
                          </a:solidFill>
                          <a:latin typeface="Calibri"/>
                        </a:rPr>
                        <a:t>Intransit</a:t>
                      </a:r>
                    </a:p>
                  </a:txBody>
                  <a:tcPr anchor="ctr">
                    <a:solidFill>
                      <a:srgbClr val="40E0D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001F3F"/>
                          </a:solidFill>
                          <a:latin typeface="Calibri"/>
                        </a:rPr>
                        <a:t>Stok Admin</a:t>
                      </a:r>
                    </a:p>
                  </a:txBody>
                  <a:tcPr anchor="ctr">
                    <a:solidFill>
                      <a:srgbClr val="40E0D0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NPK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514.20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42.00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586.55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07BFF"/>
                          </a:solidFill>
                          <a:latin typeface="Calibri"/>
                        </a:rPr>
                        <a:t>1,058.75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Urea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1,288.70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144.00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0.00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07BFF"/>
                          </a:solidFill>
                          <a:latin typeface="Calibri"/>
                        </a:rPr>
                        <a:t>1,144.70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" y="2029967"/>
            <a:ext cx="2695879" cy="1495044"/>
          </a:xfrm>
          <a:prstGeom prst="rect">
            <a:avLst/>
          </a:prstGeom>
        </p:spPr>
      </p:pic>
      <p:pic>
        <p:nvPicPr>
          <p:cNvPr id="7" name="Picture 6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53079" y="2029967"/>
            <a:ext cx="2695879" cy="1495044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233007" y="914400"/>
            <a:ext cx="5684367" cy="27203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342735" y="1024128"/>
            <a:ext cx="5464911" cy="274320"/>
          </a:xfrm>
          <a:prstGeom prst="rect">
            <a:avLst/>
          </a:prstGeom>
          <a:solidFill>
            <a:srgbClr val="001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18288"/>
          <a:lstStyle/>
          <a:p>
            <a:pPr algn="l"/>
            <a:r>
              <a:rPr sz="800" b="1">
                <a:solidFill>
                  <a:srgbClr val="FFFFFF"/>
                </a:solidFill>
                <a:latin typeface="Calibri"/>
              </a:rPr>
              <a:t>GPP Sampang - Kamuning  (B3C1)  —  JAWA TIMUR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342735" y="1353312"/>
          <a:ext cx="5464909" cy="603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11578"/>
                <a:gridCol w="1001900"/>
                <a:gridCol w="1001900"/>
                <a:gridCol w="1001900"/>
                <a:gridCol w="1147631"/>
              </a:tblGrid>
              <a:tr h="201168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001F3F"/>
                          </a:solidFill>
                          <a:latin typeface="Calibri"/>
                        </a:rPr>
                        <a:t>Jenis</a:t>
                      </a:r>
                    </a:p>
                  </a:txBody>
                  <a:tcPr anchor="ctr">
                    <a:solidFill>
                      <a:srgbClr val="40E0D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001F3F"/>
                          </a:solidFill>
                          <a:latin typeface="Calibri"/>
                        </a:rPr>
                        <a:t>Stok Fisik</a:t>
                      </a:r>
                    </a:p>
                  </a:txBody>
                  <a:tcPr anchor="ctr">
                    <a:solidFill>
                      <a:srgbClr val="40E0D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001F3F"/>
                          </a:solidFill>
                          <a:latin typeface="Calibri"/>
                        </a:rPr>
                        <a:t>Out. SO</a:t>
                      </a:r>
                    </a:p>
                  </a:txBody>
                  <a:tcPr anchor="ctr">
                    <a:solidFill>
                      <a:srgbClr val="40E0D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001F3F"/>
                          </a:solidFill>
                          <a:latin typeface="Calibri"/>
                        </a:rPr>
                        <a:t>Intransit</a:t>
                      </a:r>
                    </a:p>
                  </a:txBody>
                  <a:tcPr anchor="ctr">
                    <a:solidFill>
                      <a:srgbClr val="40E0D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001F3F"/>
                          </a:solidFill>
                          <a:latin typeface="Calibri"/>
                        </a:rPr>
                        <a:t>Stok Admin</a:t>
                      </a:r>
                    </a:p>
                  </a:txBody>
                  <a:tcPr anchor="ctr">
                    <a:solidFill>
                      <a:srgbClr val="40E0D0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NPK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10.30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10.00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40.70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07BFF"/>
                          </a:solidFill>
                          <a:latin typeface="Calibri"/>
                        </a:rPr>
                        <a:t>41.00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Urea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323.00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20.00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66.00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07BFF"/>
                          </a:solidFill>
                          <a:latin typeface="Calibri"/>
                        </a:rPr>
                        <a:t>369.00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pic>
        <p:nvPicPr>
          <p:cNvPr id="11" name="Picture 10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42735" y="2029967"/>
            <a:ext cx="2695879" cy="1495044"/>
          </a:xfrm>
          <a:prstGeom prst="rect">
            <a:avLst/>
          </a:prstGeom>
        </p:spPr>
      </p:pic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11767" y="2029967"/>
            <a:ext cx="2695879" cy="1495044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274320" y="3863339"/>
            <a:ext cx="5684367" cy="27203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84048" y="3973068"/>
            <a:ext cx="5464911" cy="274320"/>
          </a:xfrm>
          <a:prstGeom prst="rect">
            <a:avLst/>
          </a:prstGeom>
          <a:solidFill>
            <a:srgbClr val="001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18288"/>
          <a:lstStyle/>
          <a:p>
            <a:pPr algn="l"/>
            <a:r>
              <a:rPr sz="800" b="1">
                <a:solidFill>
                  <a:srgbClr val="FFFFFF"/>
                </a:solidFill>
                <a:latin typeface="Calibri"/>
              </a:rPr>
              <a:t>GPP Probolinggo - Tongas  (B3DQ/D329)  —  JAWA TIMUR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384048" y="4302252"/>
          <a:ext cx="5464909" cy="603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11578"/>
                <a:gridCol w="1001900"/>
                <a:gridCol w="1001900"/>
                <a:gridCol w="1001900"/>
                <a:gridCol w="1147631"/>
              </a:tblGrid>
              <a:tr h="201168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001F3F"/>
                          </a:solidFill>
                          <a:latin typeface="Calibri"/>
                        </a:rPr>
                        <a:t>Jenis</a:t>
                      </a:r>
                    </a:p>
                  </a:txBody>
                  <a:tcPr anchor="ctr">
                    <a:solidFill>
                      <a:srgbClr val="40E0D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001F3F"/>
                          </a:solidFill>
                          <a:latin typeface="Calibri"/>
                        </a:rPr>
                        <a:t>Stok Fisik</a:t>
                      </a:r>
                    </a:p>
                  </a:txBody>
                  <a:tcPr anchor="ctr">
                    <a:solidFill>
                      <a:srgbClr val="40E0D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001F3F"/>
                          </a:solidFill>
                          <a:latin typeface="Calibri"/>
                        </a:rPr>
                        <a:t>Out. SO</a:t>
                      </a:r>
                    </a:p>
                  </a:txBody>
                  <a:tcPr anchor="ctr">
                    <a:solidFill>
                      <a:srgbClr val="40E0D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001F3F"/>
                          </a:solidFill>
                          <a:latin typeface="Calibri"/>
                        </a:rPr>
                        <a:t>Intransit</a:t>
                      </a:r>
                    </a:p>
                  </a:txBody>
                  <a:tcPr anchor="ctr">
                    <a:solidFill>
                      <a:srgbClr val="40E0D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001F3F"/>
                          </a:solidFill>
                          <a:latin typeface="Calibri"/>
                        </a:rPr>
                        <a:t>Stok Admin</a:t>
                      </a:r>
                    </a:p>
                  </a:txBody>
                  <a:tcPr anchor="ctr">
                    <a:solidFill>
                      <a:srgbClr val="40E0D0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NPK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262.75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208.00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161.75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07BFF"/>
                          </a:solidFill>
                          <a:latin typeface="Calibri"/>
                        </a:rPr>
                        <a:t>216.50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Urea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1,870.25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239.00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0.00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07BFF"/>
                          </a:solidFill>
                          <a:latin typeface="Calibri"/>
                        </a:rPr>
                        <a:t>1,631.25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pic>
        <p:nvPicPr>
          <p:cNvPr id="16" name="Picture 15" descr="image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4048" y="4978908"/>
            <a:ext cx="2695879" cy="1495043"/>
          </a:xfrm>
          <a:prstGeom prst="rect">
            <a:avLst/>
          </a:prstGeom>
        </p:spPr>
      </p:pic>
      <p:pic>
        <p:nvPicPr>
          <p:cNvPr id="17" name="Picture 16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153079" y="4978908"/>
            <a:ext cx="2695879" cy="1495043"/>
          </a:xfrm>
          <a:prstGeom prst="rect">
            <a:avLst/>
          </a:prstGeom>
        </p:spPr>
      </p:pic>
      <p:sp>
        <p:nvSpPr>
          <p:cNvPr id="18" name="Rounded Rectangle 17"/>
          <p:cNvSpPr/>
          <p:nvPr/>
        </p:nvSpPr>
        <p:spPr>
          <a:xfrm>
            <a:off x="6233007" y="3863339"/>
            <a:ext cx="5684367" cy="27203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42735" y="3973068"/>
            <a:ext cx="5464911" cy="274320"/>
          </a:xfrm>
          <a:prstGeom prst="rect">
            <a:avLst/>
          </a:prstGeom>
          <a:solidFill>
            <a:srgbClr val="001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18288"/>
          <a:lstStyle/>
          <a:p>
            <a:pPr algn="l"/>
            <a:r>
              <a:rPr sz="800" b="1">
                <a:solidFill>
                  <a:srgbClr val="FFFFFF"/>
                </a:solidFill>
                <a:latin typeface="Calibri"/>
              </a:rPr>
              <a:t>GPP Sumenep - Kalianget  (B3CA)  —  JAWA TIMUR</a:t>
            </a:r>
          </a:p>
        </p:txBody>
      </p:sp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6342735" y="4302252"/>
          <a:ext cx="5464909" cy="603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11578"/>
                <a:gridCol w="1001900"/>
                <a:gridCol w="1001900"/>
                <a:gridCol w="1001900"/>
                <a:gridCol w="1147631"/>
              </a:tblGrid>
              <a:tr h="201168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001F3F"/>
                          </a:solidFill>
                          <a:latin typeface="Calibri"/>
                        </a:rPr>
                        <a:t>Jenis</a:t>
                      </a:r>
                    </a:p>
                  </a:txBody>
                  <a:tcPr anchor="ctr">
                    <a:solidFill>
                      <a:srgbClr val="40E0D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001F3F"/>
                          </a:solidFill>
                          <a:latin typeface="Calibri"/>
                        </a:rPr>
                        <a:t>Stok Fisik</a:t>
                      </a:r>
                    </a:p>
                  </a:txBody>
                  <a:tcPr anchor="ctr">
                    <a:solidFill>
                      <a:srgbClr val="40E0D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001F3F"/>
                          </a:solidFill>
                          <a:latin typeface="Calibri"/>
                        </a:rPr>
                        <a:t>Out. SO</a:t>
                      </a:r>
                    </a:p>
                  </a:txBody>
                  <a:tcPr anchor="ctr">
                    <a:solidFill>
                      <a:srgbClr val="40E0D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001F3F"/>
                          </a:solidFill>
                          <a:latin typeface="Calibri"/>
                        </a:rPr>
                        <a:t>Intransit</a:t>
                      </a:r>
                    </a:p>
                  </a:txBody>
                  <a:tcPr anchor="ctr">
                    <a:solidFill>
                      <a:srgbClr val="40E0D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001F3F"/>
                          </a:solidFill>
                          <a:latin typeface="Calibri"/>
                        </a:rPr>
                        <a:t>Stok Admin</a:t>
                      </a:r>
                    </a:p>
                  </a:txBody>
                  <a:tcPr anchor="ctr">
                    <a:solidFill>
                      <a:srgbClr val="40E0D0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NPK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63.50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20.00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63.00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07BFF"/>
                          </a:solidFill>
                          <a:latin typeface="Calibri"/>
                        </a:rPr>
                        <a:t>106.50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Urea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1,555.45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10.00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126.00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07BFF"/>
                          </a:solidFill>
                          <a:latin typeface="Calibri"/>
                        </a:rPr>
                        <a:t>1,671.45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pic>
        <p:nvPicPr>
          <p:cNvPr id="21" name="Picture 20" descr="image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42735" y="4978908"/>
            <a:ext cx="2695879" cy="1495043"/>
          </a:xfrm>
          <a:prstGeom prst="rect">
            <a:avLst/>
          </a:prstGeom>
        </p:spPr>
      </p:pic>
      <p:pic>
        <p:nvPicPr>
          <p:cNvPr id="22" name="Picture 21" descr="image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111767" y="4978908"/>
            <a:ext cx="2695879" cy="1495043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274320" y="914400"/>
            <a:ext cx="5684367" cy="27203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84048" y="1024128"/>
            <a:ext cx="5464911" cy="274320"/>
          </a:xfrm>
          <a:prstGeom prst="rect">
            <a:avLst/>
          </a:prstGeom>
          <a:solidFill>
            <a:srgbClr val="001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18288"/>
          <a:lstStyle/>
          <a:p>
            <a:pPr algn="l"/>
            <a:r>
              <a:rPr sz="800" b="1">
                <a:solidFill>
                  <a:srgbClr val="FFFFFF"/>
                </a:solidFill>
                <a:latin typeface="Calibri"/>
              </a:rPr>
              <a:t>GPP Tuban - Palang  (B3AG)  —  JAWA TIMUR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84048" y="1353312"/>
          <a:ext cx="5464909" cy="603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11578"/>
                <a:gridCol w="1001900"/>
                <a:gridCol w="1001900"/>
                <a:gridCol w="1001900"/>
                <a:gridCol w="1147631"/>
              </a:tblGrid>
              <a:tr h="201168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001F3F"/>
                          </a:solidFill>
                          <a:latin typeface="Calibri"/>
                        </a:rPr>
                        <a:t>Jenis</a:t>
                      </a:r>
                    </a:p>
                  </a:txBody>
                  <a:tcPr anchor="ctr">
                    <a:solidFill>
                      <a:srgbClr val="40E0D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001F3F"/>
                          </a:solidFill>
                          <a:latin typeface="Calibri"/>
                        </a:rPr>
                        <a:t>Stok Fisik</a:t>
                      </a:r>
                    </a:p>
                  </a:txBody>
                  <a:tcPr anchor="ctr">
                    <a:solidFill>
                      <a:srgbClr val="40E0D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001F3F"/>
                          </a:solidFill>
                          <a:latin typeface="Calibri"/>
                        </a:rPr>
                        <a:t>Out. SO</a:t>
                      </a:r>
                    </a:p>
                  </a:txBody>
                  <a:tcPr anchor="ctr">
                    <a:solidFill>
                      <a:srgbClr val="40E0D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001F3F"/>
                          </a:solidFill>
                          <a:latin typeface="Calibri"/>
                        </a:rPr>
                        <a:t>Intransit</a:t>
                      </a:r>
                    </a:p>
                  </a:txBody>
                  <a:tcPr anchor="ctr">
                    <a:solidFill>
                      <a:srgbClr val="40E0D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001F3F"/>
                          </a:solidFill>
                          <a:latin typeface="Calibri"/>
                        </a:rPr>
                        <a:t>Stok Admin</a:t>
                      </a:r>
                    </a:p>
                  </a:txBody>
                  <a:tcPr anchor="ctr">
                    <a:solidFill>
                      <a:srgbClr val="40E0D0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NPK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507.50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314.00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104.50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07BFF"/>
                          </a:solidFill>
                          <a:latin typeface="Calibri"/>
                        </a:rPr>
                        <a:t>298.00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Urea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1,834.30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297.00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170.50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07BFF"/>
                          </a:solidFill>
                          <a:latin typeface="Calibri"/>
                        </a:rPr>
                        <a:t>1,707.80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" y="2029967"/>
            <a:ext cx="2695879" cy="1495044"/>
          </a:xfrm>
          <a:prstGeom prst="rect">
            <a:avLst/>
          </a:prstGeom>
        </p:spPr>
      </p:pic>
      <p:pic>
        <p:nvPicPr>
          <p:cNvPr id="7" name="Picture 6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53079" y="2029967"/>
            <a:ext cx="2695879" cy="1495044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233007" y="914400"/>
            <a:ext cx="5684367" cy="27203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342735" y="1024128"/>
            <a:ext cx="5464911" cy="274320"/>
          </a:xfrm>
          <a:prstGeom prst="rect">
            <a:avLst/>
          </a:prstGeom>
          <a:solidFill>
            <a:srgbClr val="001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18288"/>
          <a:lstStyle/>
          <a:p>
            <a:pPr algn="l"/>
            <a:r>
              <a:rPr sz="800" b="1">
                <a:solidFill>
                  <a:srgbClr val="FFFFFF"/>
                </a:solidFill>
                <a:latin typeface="Calibri"/>
              </a:rPr>
              <a:t>Jember - Kranjingan  (B3DT/D3GP)  —  JAWA TIMUR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342735" y="1353312"/>
          <a:ext cx="5464909" cy="603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11578"/>
                <a:gridCol w="1001900"/>
                <a:gridCol w="1001900"/>
                <a:gridCol w="1001900"/>
                <a:gridCol w="1147631"/>
              </a:tblGrid>
              <a:tr h="201168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001F3F"/>
                          </a:solidFill>
                          <a:latin typeface="Calibri"/>
                        </a:rPr>
                        <a:t>Jenis</a:t>
                      </a:r>
                    </a:p>
                  </a:txBody>
                  <a:tcPr anchor="ctr">
                    <a:solidFill>
                      <a:srgbClr val="40E0D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001F3F"/>
                          </a:solidFill>
                          <a:latin typeface="Calibri"/>
                        </a:rPr>
                        <a:t>Stok Fisik</a:t>
                      </a:r>
                    </a:p>
                  </a:txBody>
                  <a:tcPr anchor="ctr">
                    <a:solidFill>
                      <a:srgbClr val="40E0D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001F3F"/>
                          </a:solidFill>
                          <a:latin typeface="Calibri"/>
                        </a:rPr>
                        <a:t>Out. SO</a:t>
                      </a:r>
                    </a:p>
                  </a:txBody>
                  <a:tcPr anchor="ctr">
                    <a:solidFill>
                      <a:srgbClr val="40E0D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001F3F"/>
                          </a:solidFill>
                          <a:latin typeface="Calibri"/>
                        </a:rPr>
                        <a:t>Intransit</a:t>
                      </a:r>
                    </a:p>
                  </a:txBody>
                  <a:tcPr anchor="ctr">
                    <a:solidFill>
                      <a:srgbClr val="40E0D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001F3F"/>
                          </a:solidFill>
                          <a:latin typeface="Calibri"/>
                        </a:rPr>
                        <a:t>Stok Admin</a:t>
                      </a:r>
                    </a:p>
                  </a:txBody>
                  <a:tcPr anchor="ctr">
                    <a:solidFill>
                      <a:srgbClr val="40E0D0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NPK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22.95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279.00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111.20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CC0000"/>
                          </a:solidFill>
                          <a:latin typeface="Calibri"/>
                        </a:rPr>
                        <a:t>-144.85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Urea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781.20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288.00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38.80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07BFF"/>
                          </a:solidFill>
                          <a:latin typeface="Calibri"/>
                        </a:rPr>
                        <a:t>532.00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pic>
        <p:nvPicPr>
          <p:cNvPr id="11" name="Picture 10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42735" y="2029967"/>
            <a:ext cx="2695879" cy="1495044"/>
          </a:xfrm>
          <a:prstGeom prst="rect">
            <a:avLst/>
          </a:prstGeom>
        </p:spPr>
      </p:pic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11767" y="2029967"/>
            <a:ext cx="2695879" cy="1495044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274320" y="3863339"/>
            <a:ext cx="5684367" cy="27203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84048" y="3973068"/>
            <a:ext cx="5464911" cy="274320"/>
          </a:xfrm>
          <a:prstGeom prst="rect">
            <a:avLst/>
          </a:prstGeom>
          <a:solidFill>
            <a:srgbClr val="001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18288"/>
          <a:lstStyle/>
          <a:p>
            <a:pPr algn="l"/>
            <a:r>
              <a:rPr sz="800" b="1">
                <a:solidFill>
                  <a:srgbClr val="FFFFFF"/>
                </a:solidFill>
                <a:latin typeface="Calibri"/>
              </a:rPr>
              <a:t>Jember - Puger  (B381/D3AI)  —  JAWA TIMUR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384048" y="4302252"/>
          <a:ext cx="5464909" cy="603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11578"/>
                <a:gridCol w="1001900"/>
                <a:gridCol w="1001900"/>
                <a:gridCol w="1001900"/>
                <a:gridCol w="1147631"/>
              </a:tblGrid>
              <a:tr h="201168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001F3F"/>
                          </a:solidFill>
                          <a:latin typeface="Calibri"/>
                        </a:rPr>
                        <a:t>Jenis</a:t>
                      </a:r>
                    </a:p>
                  </a:txBody>
                  <a:tcPr anchor="ctr">
                    <a:solidFill>
                      <a:srgbClr val="40E0D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001F3F"/>
                          </a:solidFill>
                          <a:latin typeface="Calibri"/>
                        </a:rPr>
                        <a:t>Stok Fisik</a:t>
                      </a:r>
                    </a:p>
                  </a:txBody>
                  <a:tcPr anchor="ctr">
                    <a:solidFill>
                      <a:srgbClr val="40E0D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001F3F"/>
                          </a:solidFill>
                          <a:latin typeface="Calibri"/>
                        </a:rPr>
                        <a:t>Out. SO</a:t>
                      </a:r>
                    </a:p>
                  </a:txBody>
                  <a:tcPr anchor="ctr">
                    <a:solidFill>
                      <a:srgbClr val="40E0D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001F3F"/>
                          </a:solidFill>
                          <a:latin typeface="Calibri"/>
                        </a:rPr>
                        <a:t>Intransit</a:t>
                      </a:r>
                    </a:p>
                  </a:txBody>
                  <a:tcPr anchor="ctr">
                    <a:solidFill>
                      <a:srgbClr val="40E0D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001F3F"/>
                          </a:solidFill>
                          <a:latin typeface="Calibri"/>
                        </a:rPr>
                        <a:t>Stok Admin</a:t>
                      </a:r>
                    </a:p>
                  </a:txBody>
                  <a:tcPr anchor="ctr">
                    <a:solidFill>
                      <a:srgbClr val="40E0D0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NPK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99.22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323.00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168.20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CC0000"/>
                          </a:solidFill>
                          <a:latin typeface="Calibri"/>
                        </a:rPr>
                        <a:t>-55.58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Urea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1,319.60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285.00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0.00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07BFF"/>
                          </a:solidFill>
                          <a:latin typeface="Calibri"/>
                        </a:rPr>
                        <a:t>1,034.60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pic>
        <p:nvPicPr>
          <p:cNvPr id="16" name="Picture 15" descr="image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4048" y="4978908"/>
            <a:ext cx="2695879" cy="1495043"/>
          </a:xfrm>
          <a:prstGeom prst="rect">
            <a:avLst/>
          </a:prstGeom>
        </p:spPr>
      </p:pic>
      <p:pic>
        <p:nvPicPr>
          <p:cNvPr id="17" name="Picture 16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153079" y="4978908"/>
            <a:ext cx="2695879" cy="1495043"/>
          </a:xfrm>
          <a:prstGeom prst="rect">
            <a:avLst/>
          </a:prstGeom>
        </p:spPr>
      </p:pic>
      <p:sp>
        <p:nvSpPr>
          <p:cNvPr id="18" name="Rounded Rectangle 17"/>
          <p:cNvSpPr/>
          <p:nvPr/>
        </p:nvSpPr>
        <p:spPr>
          <a:xfrm>
            <a:off x="6233007" y="3863339"/>
            <a:ext cx="5684367" cy="27203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42735" y="3973068"/>
            <a:ext cx="5464911" cy="274320"/>
          </a:xfrm>
          <a:prstGeom prst="rect">
            <a:avLst/>
          </a:prstGeom>
          <a:solidFill>
            <a:srgbClr val="001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18288"/>
          <a:lstStyle/>
          <a:p>
            <a:pPr algn="l"/>
            <a:r>
              <a:rPr sz="800" b="1">
                <a:solidFill>
                  <a:srgbClr val="FFFFFF"/>
                </a:solidFill>
                <a:latin typeface="Calibri"/>
              </a:rPr>
              <a:t>Jombang - Gatsu  (B382/D3AJ)  —  JAWA TIMUR</a:t>
            </a:r>
          </a:p>
        </p:txBody>
      </p:sp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6342735" y="4302252"/>
          <a:ext cx="5464909" cy="603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11578"/>
                <a:gridCol w="1001900"/>
                <a:gridCol w="1001900"/>
                <a:gridCol w="1001900"/>
                <a:gridCol w="1147631"/>
              </a:tblGrid>
              <a:tr h="201168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001F3F"/>
                          </a:solidFill>
                          <a:latin typeface="Calibri"/>
                        </a:rPr>
                        <a:t>Jenis</a:t>
                      </a:r>
                    </a:p>
                  </a:txBody>
                  <a:tcPr anchor="ctr">
                    <a:solidFill>
                      <a:srgbClr val="40E0D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001F3F"/>
                          </a:solidFill>
                          <a:latin typeface="Calibri"/>
                        </a:rPr>
                        <a:t>Stok Fisik</a:t>
                      </a:r>
                    </a:p>
                  </a:txBody>
                  <a:tcPr anchor="ctr">
                    <a:solidFill>
                      <a:srgbClr val="40E0D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001F3F"/>
                          </a:solidFill>
                          <a:latin typeface="Calibri"/>
                        </a:rPr>
                        <a:t>Out. SO</a:t>
                      </a:r>
                    </a:p>
                  </a:txBody>
                  <a:tcPr anchor="ctr">
                    <a:solidFill>
                      <a:srgbClr val="40E0D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001F3F"/>
                          </a:solidFill>
                          <a:latin typeface="Calibri"/>
                        </a:rPr>
                        <a:t>Intransit</a:t>
                      </a:r>
                    </a:p>
                  </a:txBody>
                  <a:tcPr anchor="ctr">
                    <a:solidFill>
                      <a:srgbClr val="40E0D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001F3F"/>
                          </a:solidFill>
                          <a:latin typeface="Calibri"/>
                        </a:rPr>
                        <a:t>Stok Admin</a:t>
                      </a:r>
                    </a:p>
                  </a:txBody>
                  <a:tcPr anchor="ctr">
                    <a:solidFill>
                      <a:srgbClr val="40E0D0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NPK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27.95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125.00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131.60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07BFF"/>
                          </a:solidFill>
                          <a:latin typeface="Calibri"/>
                        </a:rPr>
                        <a:t>34.55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Urea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1,981.20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227.00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0.00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07BFF"/>
                          </a:solidFill>
                          <a:latin typeface="Calibri"/>
                        </a:rPr>
                        <a:t>1,754.20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21" name="Rectangle 20"/>
          <p:cNvSpPr/>
          <p:nvPr/>
        </p:nvSpPr>
        <p:spPr>
          <a:xfrm>
            <a:off x="6342735" y="4978908"/>
            <a:ext cx="2695879" cy="1495043"/>
          </a:xfrm>
          <a:prstGeom prst="rect">
            <a:avLst/>
          </a:prstGeom>
          <a:solidFill>
            <a:srgbClr val="E8E8E8"/>
          </a:solidFill>
          <a:ln w="63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i="1">
                <a:solidFill>
                  <a:srgbClr val="999999"/>
                </a:solidFill>
                <a:latin typeface="Calibri"/>
              </a:rPr>
              <a:t>CCTV Depan
(Tidak tersedia)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111767" y="4978908"/>
            <a:ext cx="2695879" cy="1495043"/>
          </a:xfrm>
          <a:prstGeom prst="rect">
            <a:avLst/>
          </a:prstGeom>
          <a:solidFill>
            <a:srgbClr val="E8E8E8"/>
          </a:solidFill>
          <a:ln w="63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i="1">
                <a:solidFill>
                  <a:srgbClr val="999999"/>
                </a:solidFill>
                <a:latin typeface="Calibri"/>
              </a:rPr>
              <a:t>CCTV Dalam
(Tidak tersedia)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274320" y="914400"/>
            <a:ext cx="5684367" cy="27203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84048" y="1024128"/>
            <a:ext cx="5464911" cy="274320"/>
          </a:xfrm>
          <a:prstGeom prst="rect">
            <a:avLst/>
          </a:prstGeom>
          <a:solidFill>
            <a:srgbClr val="001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18288"/>
          <a:lstStyle/>
          <a:p>
            <a:pPr algn="l"/>
            <a:r>
              <a:rPr sz="800" b="1">
                <a:solidFill>
                  <a:srgbClr val="FFFFFF"/>
                </a:solidFill>
                <a:latin typeface="Calibri"/>
              </a:rPr>
              <a:t>Jombang - Jatipelem  (B3C3)  —  JAWA TIMUR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84048" y="1353312"/>
          <a:ext cx="5464909" cy="603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11578"/>
                <a:gridCol w="1001900"/>
                <a:gridCol w="1001900"/>
                <a:gridCol w="1001900"/>
                <a:gridCol w="1147631"/>
              </a:tblGrid>
              <a:tr h="201168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001F3F"/>
                          </a:solidFill>
                          <a:latin typeface="Calibri"/>
                        </a:rPr>
                        <a:t>Jenis</a:t>
                      </a:r>
                    </a:p>
                  </a:txBody>
                  <a:tcPr anchor="ctr">
                    <a:solidFill>
                      <a:srgbClr val="40E0D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001F3F"/>
                          </a:solidFill>
                          <a:latin typeface="Calibri"/>
                        </a:rPr>
                        <a:t>Stok Fisik</a:t>
                      </a:r>
                    </a:p>
                  </a:txBody>
                  <a:tcPr anchor="ctr">
                    <a:solidFill>
                      <a:srgbClr val="40E0D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001F3F"/>
                          </a:solidFill>
                          <a:latin typeface="Calibri"/>
                        </a:rPr>
                        <a:t>Out. SO</a:t>
                      </a:r>
                    </a:p>
                  </a:txBody>
                  <a:tcPr anchor="ctr">
                    <a:solidFill>
                      <a:srgbClr val="40E0D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001F3F"/>
                          </a:solidFill>
                          <a:latin typeface="Calibri"/>
                        </a:rPr>
                        <a:t>Intransit</a:t>
                      </a:r>
                    </a:p>
                  </a:txBody>
                  <a:tcPr anchor="ctr">
                    <a:solidFill>
                      <a:srgbClr val="40E0D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001F3F"/>
                          </a:solidFill>
                          <a:latin typeface="Calibri"/>
                        </a:rPr>
                        <a:t>Stok Admin</a:t>
                      </a:r>
                    </a:p>
                  </a:txBody>
                  <a:tcPr anchor="ctr">
                    <a:solidFill>
                      <a:srgbClr val="40E0D0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NPK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38.75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346.00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172.10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CC0000"/>
                          </a:solidFill>
                          <a:latin typeface="Calibri"/>
                        </a:rPr>
                        <a:t>-135.15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Urea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1,749.80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247.00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40.45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07BFF"/>
                          </a:solidFill>
                          <a:latin typeface="Calibri"/>
                        </a:rPr>
                        <a:t>1,543.25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384048" y="2029967"/>
            <a:ext cx="2695879" cy="1495044"/>
          </a:xfrm>
          <a:prstGeom prst="rect">
            <a:avLst/>
          </a:prstGeom>
          <a:solidFill>
            <a:srgbClr val="E8E8E8"/>
          </a:solidFill>
          <a:ln w="63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i="1">
                <a:solidFill>
                  <a:srgbClr val="999999"/>
                </a:solidFill>
                <a:latin typeface="Calibri"/>
              </a:rPr>
              <a:t>CCTV Depan
(Tidak tersedia)</a:t>
            </a:r>
          </a:p>
        </p:txBody>
      </p:sp>
      <p:sp>
        <p:nvSpPr>
          <p:cNvPr id="7" name="Rectangle 6"/>
          <p:cNvSpPr/>
          <p:nvPr/>
        </p:nvSpPr>
        <p:spPr>
          <a:xfrm>
            <a:off x="3153079" y="2029967"/>
            <a:ext cx="2695879" cy="1495044"/>
          </a:xfrm>
          <a:prstGeom prst="rect">
            <a:avLst/>
          </a:prstGeom>
          <a:solidFill>
            <a:srgbClr val="E8E8E8"/>
          </a:solidFill>
          <a:ln w="63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i="1">
                <a:solidFill>
                  <a:srgbClr val="999999"/>
                </a:solidFill>
                <a:latin typeface="Calibri"/>
              </a:rPr>
              <a:t>CCTV Dalam
(Tidak tersedia)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